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32" y="10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47804" y="1052224"/>
            <a:ext cx="7279640" cy="635015"/>
          </a:xfrm>
          <a:prstGeom prst="rect">
            <a:avLst/>
          </a:prstGeom>
        </p:spPr>
        <p:txBody>
          <a:bodyPr wrap="square" lIns="0" tIns="0" rIns="0" bIns="0">
            <a:spAutoFit/>
          </a:bodyPr>
          <a:lstStyle>
            <a:lvl1pPr>
              <a:defRPr sz="4000" b="0" i="0">
                <a:solidFill>
                  <a:schemeClr val="bg1"/>
                </a:solidFill>
                <a:latin typeface="Century Gothic"/>
                <a:cs typeface="Century Gothic"/>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Century Gothic"/>
                <a:cs typeface="Century Gothic"/>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bg1"/>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0" y="0"/>
            <a:ext cx="12191998" cy="1441450"/>
          </a:xfrm>
          <a:prstGeom prst="rect">
            <a:avLst/>
          </a:prstGeom>
        </p:spPr>
      </p:pic>
      <p:sp>
        <p:nvSpPr>
          <p:cNvPr id="2" name="Holder 2"/>
          <p:cNvSpPr>
            <a:spLocks noGrp="1"/>
          </p:cNvSpPr>
          <p:nvPr>
            <p:ph type="title"/>
          </p:nvPr>
        </p:nvSpPr>
        <p:spPr>
          <a:xfrm>
            <a:off x="5400532" y="1052239"/>
            <a:ext cx="6026784" cy="635000"/>
          </a:xfrm>
          <a:prstGeom prst="rect">
            <a:avLst/>
          </a:prstGeom>
        </p:spPr>
        <p:txBody>
          <a:bodyPr wrap="square" lIns="0" tIns="0" rIns="0" bIns="0">
            <a:spAutoFit/>
          </a:bodyPr>
          <a:lstStyle>
            <a:lvl1pPr>
              <a:defRPr sz="4000" b="0" i="0">
                <a:solidFill>
                  <a:schemeClr val="bg1"/>
                </a:solidFill>
                <a:latin typeface="Century Gothic"/>
                <a:cs typeface="Century Gothic"/>
              </a:defRPr>
            </a:lvl1pPr>
          </a:lstStyle>
          <a:p>
            <a:endParaRPr/>
          </a:p>
        </p:txBody>
      </p:sp>
      <p:sp>
        <p:nvSpPr>
          <p:cNvPr id="3" name="Holder 3"/>
          <p:cNvSpPr>
            <a:spLocks noGrp="1"/>
          </p:cNvSpPr>
          <p:nvPr>
            <p:ph type="body" idx="1"/>
          </p:nvPr>
        </p:nvSpPr>
        <p:spPr>
          <a:xfrm>
            <a:off x="3119512" y="2546762"/>
            <a:ext cx="7940040" cy="35382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4/19/2026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youtu.be/UXaDqqc0UnM" TargetMode="Externa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 y="4376630"/>
            <a:ext cx="12191998" cy="2482850"/>
          </a:xfrm>
          <a:prstGeom prst="rect">
            <a:avLst/>
          </a:prstGeom>
        </p:spPr>
      </p:pic>
      <p:sp>
        <p:nvSpPr>
          <p:cNvPr id="3" name="object 3" descr="$PPTXTitle"/>
          <p:cNvSpPr txBox="1">
            <a:spLocks noGrp="1"/>
          </p:cNvSpPr>
          <p:nvPr>
            <p:ph type="title"/>
          </p:nvPr>
        </p:nvSpPr>
        <p:spPr>
          <a:xfrm>
            <a:off x="1450324" y="2501504"/>
            <a:ext cx="5990453" cy="2376997"/>
          </a:xfrm>
          <a:prstGeom prst="rect">
            <a:avLst/>
          </a:prstGeom>
        </p:spPr>
        <p:txBody>
          <a:bodyPr vert="horz" wrap="square" lIns="0" tIns="136525" rIns="0" bIns="0" rtlCol="0">
            <a:spAutoFit/>
          </a:bodyPr>
          <a:lstStyle/>
          <a:p>
            <a:pPr marL="12700">
              <a:lnSpc>
                <a:spcPct val="100000"/>
              </a:lnSpc>
              <a:spcBef>
                <a:spcPts val="1075"/>
              </a:spcBef>
            </a:pPr>
            <a:r>
              <a:rPr sz="6000" dirty="0"/>
              <a:t>Green</a:t>
            </a:r>
            <a:r>
              <a:rPr sz="6000" spc="-185" dirty="0"/>
              <a:t> </a:t>
            </a:r>
            <a:r>
              <a:rPr sz="6000" spc="-20" dirty="0"/>
              <a:t>Pace</a:t>
            </a:r>
            <a:endParaRPr sz="6000" dirty="0"/>
          </a:p>
          <a:p>
            <a:pPr marL="12700" marR="563245">
              <a:lnSpc>
                <a:spcPts val="2560"/>
              </a:lnSpc>
              <a:spcBef>
                <a:spcPts val="55"/>
              </a:spcBef>
            </a:pPr>
            <a:r>
              <a:rPr sz="1850" dirty="0"/>
              <a:t>Security</a:t>
            </a:r>
            <a:r>
              <a:rPr sz="1850" spc="-65" dirty="0"/>
              <a:t> </a:t>
            </a:r>
            <a:r>
              <a:rPr sz="1850" dirty="0"/>
              <a:t>Policy</a:t>
            </a:r>
            <a:r>
              <a:rPr sz="1850" spc="-60" dirty="0"/>
              <a:t> </a:t>
            </a:r>
            <a:r>
              <a:rPr sz="1850" spc="-10" dirty="0"/>
              <a:t>Presentation</a:t>
            </a:r>
            <a:br>
              <a:rPr lang="en-US" sz="1850" spc="-10" dirty="0"/>
            </a:br>
            <a:r>
              <a:rPr sz="1850" dirty="0"/>
              <a:t>Developer:</a:t>
            </a:r>
            <a:r>
              <a:rPr sz="1850" spc="-55" dirty="0"/>
              <a:t> </a:t>
            </a:r>
            <a:r>
              <a:rPr lang="en-US" sz="1850" i="1" dirty="0">
                <a:latin typeface="Century Gothic"/>
                <a:cs typeface="Century Gothic"/>
              </a:rPr>
              <a:t>Samuel </a:t>
            </a:r>
            <a:r>
              <a:rPr lang="en-US" sz="1850" i="1" dirty="0"/>
              <a:t>Alex Black</a:t>
            </a:r>
            <a:br>
              <a:rPr lang="en-US" sz="1850" i="1" dirty="0"/>
            </a:br>
            <a:br>
              <a:rPr lang="en-US" sz="1850" i="1" dirty="0"/>
            </a:br>
            <a:r>
              <a:rPr lang="en-US" sz="1850" i="1" dirty="0"/>
              <a:t>Link to video: </a:t>
            </a:r>
            <a:r>
              <a:rPr lang="en-US" sz="1850" i="1" dirty="0">
                <a:hlinkClick r:id="rId3"/>
              </a:rPr>
              <a:t>https://youtu.be/UXaDqqc0UnM</a:t>
            </a:r>
            <a:r>
              <a:rPr lang="en-US" sz="1850" i="1" dirty="0"/>
              <a:t> </a:t>
            </a:r>
            <a:endParaRPr sz="1850" dirty="0">
              <a:latin typeface="Century Gothic"/>
              <a:cs typeface="Century Gothic"/>
            </a:endParaRPr>
          </a:p>
        </p:txBody>
      </p:sp>
      <p:pic>
        <p:nvPicPr>
          <p:cNvPr id="6" name="object 6" descr="Green Pace logo"/>
          <p:cNvPicPr/>
          <p:nvPr/>
        </p:nvPicPr>
        <p:blipFill>
          <a:blip r:embed="rId4" cstate="print"/>
          <a:stretch>
            <a:fillRect/>
          </a:stretch>
        </p:blipFill>
        <p:spPr>
          <a:xfrm>
            <a:off x="7440777" y="659854"/>
            <a:ext cx="2920539" cy="37867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4247728" y="685800"/>
            <a:ext cx="7279640" cy="635015"/>
          </a:xfrm>
          <a:prstGeom prst="rect">
            <a:avLst/>
          </a:prstGeom>
        </p:spPr>
        <p:txBody>
          <a:bodyPr vert="horz" wrap="square" lIns="0" tIns="12065" rIns="0" bIns="0" rtlCol="0">
            <a:spAutoFit/>
          </a:bodyPr>
          <a:lstStyle/>
          <a:p>
            <a:pPr marL="12700">
              <a:lnSpc>
                <a:spcPct val="100000"/>
              </a:lnSpc>
              <a:spcBef>
                <a:spcPts val="95"/>
              </a:spcBef>
            </a:pPr>
            <a:r>
              <a:rPr dirty="0"/>
              <a:t>OVERVIEW:</a:t>
            </a:r>
            <a:r>
              <a:rPr spc="-114" dirty="0"/>
              <a:t> </a:t>
            </a:r>
            <a:r>
              <a:rPr dirty="0"/>
              <a:t>DEFENSE</a:t>
            </a:r>
            <a:r>
              <a:rPr spc="-114" dirty="0"/>
              <a:t> </a:t>
            </a:r>
            <a:r>
              <a:rPr dirty="0"/>
              <a:t>IN</a:t>
            </a:r>
            <a:r>
              <a:rPr spc="-120" dirty="0"/>
              <a:t> </a:t>
            </a:r>
            <a:r>
              <a:rPr spc="-20" dirty="0"/>
              <a:t>DEPTH</a:t>
            </a:r>
          </a:p>
        </p:txBody>
      </p:sp>
      <p:sp>
        <p:nvSpPr>
          <p:cNvPr id="3" name="object 3"/>
          <p:cNvSpPr txBox="1"/>
          <p:nvPr/>
        </p:nvSpPr>
        <p:spPr>
          <a:xfrm>
            <a:off x="381000" y="1692620"/>
            <a:ext cx="5041898" cy="4871847"/>
          </a:xfrm>
          <a:prstGeom prst="rect">
            <a:avLst/>
          </a:prstGeom>
        </p:spPr>
        <p:txBody>
          <a:bodyPr vert="horz" wrap="square" lIns="0" tIns="49530" rIns="0" bIns="0" rtlCol="0">
            <a:spAutoFit/>
          </a:bodyPr>
          <a:lstStyle/>
          <a:p>
            <a:pPr marL="12700" marR="5080">
              <a:lnSpc>
                <a:spcPts val="2380"/>
              </a:lnSpc>
              <a:spcBef>
                <a:spcPts val="390"/>
              </a:spcBef>
            </a:pPr>
            <a:r>
              <a:rPr lang="en-US" sz="2200" b="1" dirty="0">
                <a:solidFill>
                  <a:srgbClr val="FFFFFF"/>
                </a:solidFill>
                <a:latin typeface="Century Gothic"/>
                <a:cs typeface="Century Gothic"/>
              </a:rPr>
              <a:t>Purpose of Security Policy </a:t>
            </a:r>
          </a:p>
          <a:p>
            <a:pPr marL="12700" marR="5080">
              <a:lnSpc>
                <a:spcPts val="2380"/>
              </a:lnSpc>
              <a:spcBef>
                <a:spcPts val="390"/>
              </a:spcBef>
            </a:pPr>
            <a:endParaRPr lang="en-US" sz="2200" dirty="0">
              <a:solidFill>
                <a:srgbClr val="FFFFFF"/>
              </a:solidFill>
              <a:latin typeface="Century Gothic"/>
              <a:cs typeface="Century Gothic"/>
            </a:endParaRPr>
          </a:p>
          <a:p>
            <a:pPr marL="355600" marR="5080" indent="-342900">
              <a:lnSpc>
                <a:spcPts val="2380"/>
              </a:lnSpc>
              <a:spcBef>
                <a:spcPts val="390"/>
              </a:spcBef>
              <a:buFont typeface="Arial" panose="020B0604020202020204" pitchFamily="34" charset="0"/>
              <a:buChar char="•"/>
            </a:pPr>
            <a:r>
              <a:rPr lang="en-US" sz="2200" dirty="0">
                <a:solidFill>
                  <a:srgbClr val="FFFFFF"/>
                </a:solidFill>
                <a:latin typeface="Century Gothic"/>
                <a:cs typeface="Century Gothic"/>
              </a:rPr>
              <a:t>Standardize secure coding practices</a:t>
            </a:r>
          </a:p>
          <a:p>
            <a:pPr marL="355600" marR="5080" lvl="3" indent="-342900">
              <a:lnSpc>
                <a:spcPts val="2380"/>
              </a:lnSpc>
              <a:spcBef>
                <a:spcPts val="390"/>
              </a:spcBef>
              <a:buFont typeface="Arial" panose="020B0604020202020204" pitchFamily="34" charset="0"/>
              <a:buChar char="•"/>
            </a:pPr>
            <a:r>
              <a:rPr lang="en-US" sz="2200" dirty="0">
                <a:solidFill>
                  <a:srgbClr val="FFFFFF"/>
                </a:solidFill>
                <a:latin typeface="Century Gothic"/>
                <a:cs typeface="Century Gothic"/>
              </a:rPr>
              <a:t>Reduce vulnerabilities in development</a:t>
            </a:r>
          </a:p>
          <a:p>
            <a:pPr marL="355600" marR="5080" lvl="1" indent="-342900">
              <a:lnSpc>
                <a:spcPts val="2380"/>
              </a:lnSpc>
              <a:spcBef>
                <a:spcPts val="390"/>
              </a:spcBef>
              <a:buFont typeface="Arial" panose="020B0604020202020204" pitchFamily="34" charset="0"/>
              <a:buChar char="•"/>
            </a:pPr>
            <a:r>
              <a:rPr lang="en-US" sz="2200" dirty="0">
                <a:solidFill>
                  <a:srgbClr val="FFFFFF"/>
                </a:solidFill>
                <a:latin typeface="Century Gothic"/>
                <a:cs typeface="Century Gothic"/>
              </a:rPr>
              <a:t>Support defense-in-depth strategy</a:t>
            </a:r>
          </a:p>
          <a:p>
            <a:pPr marL="12700" marR="5080">
              <a:lnSpc>
                <a:spcPts val="2380"/>
              </a:lnSpc>
              <a:spcBef>
                <a:spcPts val="390"/>
              </a:spcBef>
            </a:pPr>
            <a:endParaRPr lang="en-US" sz="2200" dirty="0">
              <a:solidFill>
                <a:srgbClr val="FFFFFF"/>
              </a:solidFill>
              <a:latin typeface="Century Gothic"/>
              <a:cs typeface="Century Gothic"/>
            </a:endParaRPr>
          </a:p>
          <a:p>
            <a:pPr marL="12700" marR="5080">
              <a:lnSpc>
                <a:spcPts val="2380"/>
              </a:lnSpc>
              <a:spcBef>
                <a:spcPts val="390"/>
              </a:spcBef>
            </a:pPr>
            <a:r>
              <a:rPr lang="en-US" sz="2200" b="1" dirty="0">
                <a:solidFill>
                  <a:srgbClr val="FFFFFF"/>
                </a:solidFill>
                <a:latin typeface="Century Gothic"/>
                <a:cs typeface="Century Gothic"/>
              </a:rPr>
              <a:t>Defense in Depth</a:t>
            </a:r>
          </a:p>
          <a:p>
            <a:pPr marL="12700" marR="5080">
              <a:lnSpc>
                <a:spcPts val="2380"/>
              </a:lnSpc>
              <a:spcBef>
                <a:spcPts val="390"/>
              </a:spcBef>
            </a:pPr>
            <a:endParaRPr lang="en-US" sz="2200" dirty="0">
              <a:solidFill>
                <a:srgbClr val="FFFFFF"/>
              </a:solidFill>
              <a:latin typeface="Century Gothic"/>
              <a:cs typeface="Century Gothic"/>
            </a:endParaRPr>
          </a:p>
          <a:p>
            <a:pPr marL="355600" marR="5080" indent="-342900">
              <a:lnSpc>
                <a:spcPts val="2380"/>
              </a:lnSpc>
              <a:spcBef>
                <a:spcPts val="390"/>
              </a:spcBef>
              <a:buFont typeface="Arial" panose="020B0604020202020204" pitchFamily="34" charset="0"/>
              <a:buChar char="•"/>
            </a:pPr>
            <a:r>
              <a:rPr lang="en-US" sz="2200" dirty="0">
                <a:solidFill>
                  <a:srgbClr val="FFFFFF"/>
                </a:solidFill>
                <a:latin typeface="Century Gothic"/>
                <a:cs typeface="Century Gothic"/>
              </a:rPr>
              <a:t>Multiple layers of protection</a:t>
            </a:r>
          </a:p>
          <a:p>
            <a:pPr marL="355600" marR="5080" indent="-342900">
              <a:lnSpc>
                <a:spcPts val="2380"/>
              </a:lnSpc>
              <a:spcBef>
                <a:spcPts val="390"/>
              </a:spcBef>
              <a:buFont typeface="Arial" panose="020B0604020202020204" pitchFamily="34" charset="0"/>
              <a:buChar char="•"/>
            </a:pPr>
            <a:r>
              <a:rPr lang="en-US" sz="2200" dirty="0">
                <a:solidFill>
                  <a:srgbClr val="FFFFFF"/>
                </a:solidFill>
                <a:latin typeface="Century Gothic"/>
                <a:cs typeface="Century Gothic"/>
              </a:rPr>
              <a:t>Prevent single points of failure</a:t>
            </a:r>
          </a:p>
          <a:p>
            <a:pPr marL="355600" marR="5080" indent="-342900">
              <a:lnSpc>
                <a:spcPts val="2380"/>
              </a:lnSpc>
              <a:spcBef>
                <a:spcPts val="390"/>
              </a:spcBef>
              <a:buFont typeface="Arial" panose="020B0604020202020204" pitchFamily="34" charset="0"/>
              <a:buChar char="•"/>
            </a:pPr>
            <a:r>
              <a:rPr lang="en-US" sz="2200" dirty="0">
                <a:solidFill>
                  <a:srgbClr val="FFFFFF"/>
                </a:solidFill>
                <a:latin typeface="Century Gothic"/>
                <a:cs typeface="Century Gothic"/>
              </a:rPr>
              <a:t>Combine coding, architecture, and testing</a:t>
            </a:r>
            <a:endParaRPr sz="2200" dirty="0">
              <a:latin typeface="Century Gothic"/>
              <a:cs typeface="Century Gothic"/>
            </a:endParaRPr>
          </a:p>
        </p:txBody>
      </p:sp>
      <p:pic>
        <p:nvPicPr>
          <p:cNvPr id="4" name="object 4" descr="NHS (Healthcare) Defense in Depth – Shaun Van Niekerk Screenshot of defense-in-depth best practice of layered security.  This illustration provides a visual representation of the defense-in-depth best practice of layered security. Shows the following layers of developer defense: Physical security, Cloud security, Perimeter security, network security, Host security, Endpoint security, APP security and critical assets, systems, and data security."/>
          <p:cNvPicPr/>
          <p:nvPr/>
        </p:nvPicPr>
        <p:blipFill>
          <a:blip r:embed="rId2" cstate="print"/>
          <a:stretch>
            <a:fillRect/>
          </a:stretch>
        </p:blipFill>
        <p:spPr>
          <a:xfrm>
            <a:off x="5791200" y="1524000"/>
            <a:ext cx="5736168" cy="3657600"/>
          </a:xfrm>
          <a:prstGeom prst="rect">
            <a:avLst/>
          </a:prstGeom>
        </p:spPr>
      </p:pic>
      <p:pic>
        <p:nvPicPr>
          <p:cNvPr id="5" name="object 5" descr="Green Pace logo"/>
          <p:cNvPicPr/>
          <p:nvPr/>
        </p:nvPicPr>
        <p:blipFill>
          <a:blip r:embed="rId3" cstate="print"/>
          <a:stretch>
            <a:fillRect/>
          </a:stretch>
        </p:blipFill>
        <p:spPr>
          <a:xfrm>
            <a:off x="11084073" y="5440527"/>
            <a:ext cx="886591" cy="11490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57800" y="381000"/>
            <a:ext cx="6026784" cy="635000"/>
          </a:xfrm>
          <a:prstGeom prst="rect">
            <a:avLst/>
          </a:prstGeom>
        </p:spPr>
        <p:txBody>
          <a:bodyPr vert="horz" wrap="square" lIns="0" tIns="12065" rIns="0" bIns="0" rtlCol="0">
            <a:spAutoFit/>
          </a:bodyPr>
          <a:lstStyle/>
          <a:p>
            <a:pPr marL="2092960">
              <a:lnSpc>
                <a:spcPct val="100000"/>
              </a:lnSpc>
              <a:spcBef>
                <a:spcPts val="95"/>
              </a:spcBef>
            </a:pPr>
            <a:r>
              <a:rPr dirty="0"/>
              <a:t>THREATS</a:t>
            </a:r>
            <a:r>
              <a:rPr spc="-110" dirty="0"/>
              <a:t> </a:t>
            </a:r>
            <a:r>
              <a:rPr spc="-10" dirty="0"/>
              <a:t>MATRIX</a:t>
            </a:r>
          </a:p>
        </p:txBody>
      </p:sp>
      <p:graphicFrame>
        <p:nvGraphicFramePr>
          <p:cNvPr id="4" name="object 4"/>
          <p:cNvGraphicFramePr>
            <a:graphicFrameLocks noGrp="1"/>
          </p:cNvGraphicFramePr>
          <p:nvPr>
            <p:extLst>
              <p:ext uri="{D42A27DB-BD31-4B8C-83A1-F6EECF244321}">
                <p14:modId xmlns:p14="http://schemas.microsoft.com/office/powerpoint/2010/main" val="1378313588"/>
              </p:ext>
            </p:extLst>
          </p:nvPr>
        </p:nvGraphicFramePr>
        <p:xfrm>
          <a:off x="1143000" y="1600200"/>
          <a:ext cx="9357123" cy="4512112"/>
        </p:xfrm>
        <a:graphic>
          <a:graphicData uri="http://schemas.openxmlformats.org/drawingml/2006/table">
            <a:tbl>
              <a:tblPr firstRow="1" bandRow="1">
                <a:tableStyleId>{2D5ABB26-0587-4C30-8999-92F81FD0307C}</a:tableStyleId>
              </a:tblPr>
              <a:tblGrid>
                <a:gridCol w="4813166">
                  <a:extLst>
                    <a:ext uri="{9D8B030D-6E8A-4147-A177-3AD203B41FA5}">
                      <a16:colId xmlns:a16="http://schemas.microsoft.com/office/drawing/2014/main" val="20000"/>
                    </a:ext>
                  </a:extLst>
                </a:gridCol>
                <a:gridCol w="4543957">
                  <a:extLst>
                    <a:ext uri="{9D8B030D-6E8A-4147-A177-3AD203B41FA5}">
                      <a16:colId xmlns:a16="http://schemas.microsoft.com/office/drawing/2014/main" val="20001"/>
                    </a:ext>
                  </a:extLst>
                </a:gridCol>
              </a:tblGrid>
              <a:tr h="2381447">
                <a:tc>
                  <a:txBody>
                    <a:bodyPr/>
                    <a:lstStyle/>
                    <a:p>
                      <a:pPr marL="300355" marR="292100" indent="0" algn="l">
                        <a:lnSpc>
                          <a:spcPct val="100000"/>
                        </a:lnSpc>
                        <a:spcBef>
                          <a:spcPts val="620"/>
                        </a:spcBef>
                        <a:buFont typeface="Arial" panose="020B0604020202020204" pitchFamily="34" charset="0"/>
                        <a:buNone/>
                      </a:pPr>
                      <a:r>
                        <a:rPr sz="1600" b="1" spc="-10" dirty="0">
                          <a:solidFill>
                            <a:srgbClr val="FFD966"/>
                          </a:solidFill>
                          <a:latin typeface="Arial"/>
                          <a:cs typeface="Arial"/>
                        </a:rPr>
                        <a:t>Likely</a:t>
                      </a:r>
                      <a:r>
                        <a:rPr lang="en-US" sz="1600" b="1" spc="-10" dirty="0">
                          <a:solidFill>
                            <a:srgbClr val="FFD966"/>
                          </a:solidFill>
                          <a:latin typeface="Arial"/>
                          <a:cs typeface="Arial"/>
                        </a:rPr>
                        <a:t>: </a:t>
                      </a:r>
                      <a:r>
                        <a:rPr lang="en-US" sz="1600" b="1" dirty="0">
                          <a:solidFill>
                            <a:srgbClr val="FFD966"/>
                          </a:solidFill>
                          <a:latin typeface="Arial"/>
                          <a:cs typeface="Arial"/>
                        </a:rPr>
                        <a:t>High Likelihood / Medium Impact </a:t>
                      </a:r>
                    </a:p>
                    <a:p>
                      <a:pPr marL="300355" marR="292100" indent="0" algn="l">
                        <a:lnSpc>
                          <a:spcPct val="100000"/>
                        </a:lnSpc>
                        <a:spcBef>
                          <a:spcPts val="620"/>
                        </a:spcBef>
                        <a:buFont typeface="Arial" panose="020B0604020202020204" pitchFamily="34" charset="0"/>
                        <a:buNone/>
                      </a:pPr>
                      <a:endParaRPr lang="en-US" sz="1600" b="0" dirty="0">
                        <a:solidFill>
                          <a:srgbClr val="FFD966"/>
                        </a:solidFill>
                        <a:latin typeface="Arial"/>
                        <a:cs typeface="Arial"/>
                      </a:endParaRPr>
                    </a:p>
                    <a:p>
                      <a:pPr marL="643255" marR="292100" indent="-342900" algn="l">
                        <a:lnSpc>
                          <a:spcPct val="100000"/>
                        </a:lnSpc>
                        <a:spcBef>
                          <a:spcPts val="620"/>
                        </a:spcBef>
                        <a:buFont typeface="Arial" panose="020B0604020202020204" pitchFamily="34" charset="0"/>
                        <a:buChar char="•"/>
                      </a:pPr>
                      <a:r>
                        <a:rPr lang="en-US" sz="1600" b="0" dirty="0">
                          <a:solidFill>
                            <a:srgbClr val="FFD966"/>
                          </a:solidFill>
                          <a:latin typeface="Arial"/>
                          <a:cs typeface="Arial"/>
                        </a:rPr>
                        <a:t>Weak Input Validation </a:t>
                      </a:r>
                    </a:p>
                    <a:p>
                      <a:pPr marL="643255" marR="292100" indent="-342900" algn="l">
                        <a:lnSpc>
                          <a:spcPct val="100000"/>
                        </a:lnSpc>
                        <a:spcBef>
                          <a:spcPts val="620"/>
                        </a:spcBef>
                        <a:buFont typeface="Arial" panose="020B0604020202020204" pitchFamily="34" charset="0"/>
                        <a:buChar char="•"/>
                      </a:pPr>
                      <a:r>
                        <a:rPr lang="en-US" sz="1600" b="0" dirty="0">
                          <a:solidFill>
                            <a:srgbClr val="FFD966"/>
                          </a:solidFill>
                          <a:latin typeface="Arial"/>
                          <a:cs typeface="Arial"/>
                        </a:rPr>
                        <a:t>Integer Overflow</a:t>
                      </a:r>
                    </a:p>
                    <a:p>
                      <a:pPr marL="643255" marR="292100" indent="-342900" algn="l">
                        <a:lnSpc>
                          <a:spcPct val="100000"/>
                        </a:lnSpc>
                        <a:spcBef>
                          <a:spcPts val="620"/>
                        </a:spcBef>
                        <a:buFont typeface="Arial" panose="020B0604020202020204" pitchFamily="34" charset="0"/>
                        <a:buChar char="•"/>
                      </a:pPr>
                      <a:r>
                        <a:rPr lang="en-US" sz="1600" b="0" dirty="0">
                          <a:solidFill>
                            <a:srgbClr val="FFD966"/>
                          </a:solidFill>
                          <a:latin typeface="Arial"/>
                          <a:cs typeface="Arial"/>
                        </a:rPr>
                        <a:t>Improper Error Handling </a:t>
                      </a:r>
                    </a:p>
                    <a:p>
                      <a:pPr marL="300355" marR="292100" indent="1129030" algn="l">
                        <a:lnSpc>
                          <a:spcPct val="100000"/>
                        </a:lnSpc>
                        <a:spcBef>
                          <a:spcPts val="620"/>
                        </a:spcBef>
                      </a:pPr>
                      <a:endParaRPr lang="en-US" sz="2400" b="0" dirty="0">
                        <a:solidFill>
                          <a:srgbClr val="FFD966"/>
                        </a:solidFill>
                        <a:latin typeface="Arial"/>
                        <a:cs typeface="Arial"/>
                      </a:endParaRPr>
                    </a:p>
                    <a:p>
                      <a:pPr marL="300355" marR="292100" indent="1129030" algn="l">
                        <a:lnSpc>
                          <a:spcPct val="100000"/>
                        </a:lnSpc>
                        <a:spcBef>
                          <a:spcPts val="620"/>
                        </a:spcBef>
                      </a:pPr>
                      <a:endParaRPr sz="2400" b="0" dirty="0">
                        <a:latin typeface="Arial"/>
                        <a:cs typeface="Arial"/>
                      </a:endParaRPr>
                    </a:p>
                  </a:txBody>
                  <a:tcPr marL="0" marR="0" marT="78740" marB="0">
                    <a:lnL w="28575">
                      <a:solidFill>
                        <a:srgbClr val="9E9E9E"/>
                      </a:solidFill>
                      <a:prstDash val="solid"/>
                    </a:lnL>
                    <a:lnR w="28575">
                      <a:solidFill>
                        <a:srgbClr val="9E9E9E"/>
                      </a:solidFill>
                      <a:prstDash val="solid"/>
                    </a:lnR>
                    <a:lnT w="28575">
                      <a:solidFill>
                        <a:srgbClr val="9E9E9E"/>
                      </a:solidFill>
                      <a:prstDash val="solid"/>
                    </a:lnT>
                    <a:lnB w="28575">
                      <a:solidFill>
                        <a:srgbClr val="9E9E9E"/>
                      </a:solidFill>
                      <a:prstDash val="solid"/>
                    </a:lnB>
                    <a:solidFill>
                      <a:srgbClr val="FFF1CC"/>
                    </a:solidFill>
                  </a:tcPr>
                </a:tc>
                <a:tc>
                  <a:txBody>
                    <a:bodyPr/>
                    <a:lstStyle/>
                    <a:p>
                      <a:pPr marL="187960" marR="179070" indent="0">
                        <a:lnSpc>
                          <a:spcPct val="100000"/>
                        </a:lnSpc>
                        <a:spcBef>
                          <a:spcPts val="620"/>
                        </a:spcBef>
                        <a:buFont typeface="Arial" panose="020B0604020202020204" pitchFamily="34" charset="0"/>
                        <a:buNone/>
                      </a:pPr>
                      <a:r>
                        <a:rPr sz="1600" b="1" spc="-10" dirty="0">
                          <a:solidFill>
                            <a:srgbClr val="FFD966"/>
                          </a:solidFill>
                          <a:latin typeface="Arial"/>
                          <a:cs typeface="Arial"/>
                        </a:rPr>
                        <a:t>Priority</a:t>
                      </a:r>
                      <a:r>
                        <a:rPr lang="en-US" sz="1600" b="1" spc="-10" dirty="0">
                          <a:solidFill>
                            <a:srgbClr val="FFD966"/>
                          </a:solidFill>
                          <a:latin typeface="Arial"/>
                          <a:cs typeface="Arial"/>
                        </a:rPr>
                        <a:t>:</a:t>
                      </a:r>
                      <a:r>
                        <a:rPr sz="1600" b="1" spc="-10" dirty="0">
                          <a:solidFill>
                            <a:srgbClr val="FFD966"/>
                          </a:solidFill>
                          <a:latin typeface="Arial"/>
                          <a:cs typeface="Arial"/>
                        </a:rPr>
                        <a:t> </a:t>
                      </a:r>
                      <a:r>
                        <a:rPr lang="en-US" sz="1600" b="1" dirty="0">
                          <a:solidFill>
                            <a:srgbClr val="FFD966"/>
                          </a:solidFill>
                          <a:latin typeface="Arial"/>
                          <a:cs typeface="Arial"/>
                        </a:rPr>
                        <a:t>High Likelihood / High Impact </a:t>
                      </a:r>
                    </a:p>
                    <a:p>
                      <a:pPr marL="187960" marR="179070" indent="0">
                        <a:lnSpc>
                          <a:spcPct val="100000"/>
                        </a:lnSpc>
                        <a:spcBef>
                          <a:spcPts val="620"/>
                        </a:spcBef>
                        <a:buFont typeface="Arial" panose="020B0604020202020204" pitchFamily="34" charset="0"/>
                        <a:buNone/>
                      </a:pPr>
                      <a:endParaRPr lang="en-US" sz="1600" dirty="0">
                        <a:solidFill>
                          <a:srgbClr val="FFD966"/>
                        </a:solidFill>
                        <a:latin typeface="Arial"/>
                        <a:cs typeface="Arial"/>
                      </a:endParaRPr>
                    </a:p>
                    <a:p>
                      <a:pPr marL="530860" marR="179070" indent="-342900">
                        <a:lnSpc>
                          <a:spcPct val="100000"/>
                        </a:lnSpc>
                        <a:spcBef>
                          <a:spcPts val="620"/>
                        </a:spcBef>
                        <a:buFont typeface="Arial" panose="020B0604020202020204" pitchFamily="34" charset="0"/>
                        <a:buChar char="•"/>
                      </a:pPr>
                      <a:r>
                        <a:rPr lang="en-US" sz="1600" dirty="0">
                          <a:solidFill>
                            <a:srgbClr val="FFD966"/>
                          </a:solidFill>
                          <a:latin typeface="Arial"/>
                          <a:cs typeface="Arial"/>
                        </a:rPr>
                        <a:t>SQL Injection  </a:t>
                      </a:r>
                    </a:p>
                    <a:p>
                      <a:pPr marL="530860" marR="179070" indent="-342900">
                        <a:lnSpc>
                          <a:spcPct val="100000"/>
                        </a:lnSpc>
                        <a:spcBef>
                          <a:spcPts val="620"/>
                        </a:spcBef>
                        <a:buFont typeface="Arial" panose="020B0604020202020204" pitchFamily="34" charset="0"/>
                        <a:buChar char="•"/>
                      </a:pPr>
                      <a:r>
                        <a:rPr lang="en-US" sz="1600" dirty="0">
                          <a:solidFill>
                            <a:srgbClr val="FFD966"/>
                          </a:solidFill>
                          <a:latin typeface="Arial"/>
                          <a:cs typeface="Arial"/>
                        </a:rPr>
                        <a:t>Weak Authentication  </a:t>
                      </a:r>
                    </a:p>
                    <a:p>
                      <a:pPr marL="530860" marR="179070" indent="-342900">
                        <a:lnSpc>
                          <a:spcPct val="100000"/>
                        </a:lnSpc>
                        <a:spcBef>
                          <a:spcPts val="620"/>
                        </a:spcBef>
                        <a:buFont typeface="Arial" panose="020B0604020202020204" pitchFamily="34" charset="0"/>
                        <a:buChar char="•"/>
                      </a:pPr>
                      <a:r>
                        <a:rPr lang="en-US" sz="1600" dirty="0">
                          <a:solidFill>
                            <a:srgbClr val="FFD966"/>
                          </a:solidFill>
                          <a:latin typeface="Arial"/>
                          <a:cs typeface="Arial"/>
                        </a:rPr>
                        <a:t>Buffer Overflow </a:t>
                      </a:r>
                    </a:p>
                  </a:txBody>
                  <a:tcPr marL="0" marR="0" marT="78740" marB="0">
                    <a:lnL w="28575">
                      <a:solidFill>
                        <a:srgbClr val="9E9E9E"/>
                      </a:solidFill>
                      <a:prstDash val="solid"/>
                    </a:lnL>
                    <a:lnR w="28575">
                      <a:solidFill>
                        <a:srgbClr val="9E9E9E"/>
                      </a:solidFill>
                      <a:prstDash val="solid"/>
                    </a:lnR>
                    <a:lnT w="28575">
                      <a:solidFill>
                        <a:srgbClr val="9E9E9E"/>
                      </a:solidFill>
                      <a:prstDash val="solid"/>
                    </a:lnT>
                    <a:lnB w="28575">
                      <a:solidFill>
                        <a:srgbClr val="9E9E9E"/>
                      </a:solidFill>
                      <a:prstDash val="solid"/>
                    </a:lnB>
                    <a:solidFill>
                      <a:srgbClr val="FFF1CC"/>
                    </a:solidFill>
                  </a:tcPr>
                </a:tc>
                <a:extLst>
                  <a:ext uri="{0D108BD9-81ED-4DB2-BD59-A6C34878D82A}">
                    <a16:rowId xmlns:a16="http://schemas.microsoft.com/office/drawing/2014/main" val="10000"/>
                  </a:ext>
                </a:extLst>
              </a:tr>
              <a:tr h="2025452">
                <a:tc>
                  <a:txBody>
                    <a:bodyPr/>
                    <a:lstStyle/>
                    <a:p>
                      <a:pPr marL="300990" marR="291465" indent="0">
                        <a:lnSpc>
                          <a:spcPct val="100000"/>
                        </a:lnSpc>
                        <a:spcBef>
                          <a:spcPts val="625"/>
                        </a:spcBef>
                        <a:buFont typeface="Arial" panose="020B0604020202020204" pitchFamily="34" charset="0"/>
                        <a:buNone/>
                      </a:pPr>
                      <a:r>
                        <a:rPr sz="1600" b="1" dirty="0">
                          <a:solidFill>
                            <a:srgbClr val="FFD966"/>
                          </a:solidFill>
                          <a:latin typeface="Arial"/>
                          <a:cs typeface="Arial"/>
                        </a:rPr>
                        <a:t>Low</a:t>
                      </a:r>
                      <a:r>
                        <a:rPr sz="1600" b="1" spc="-25" dirty="0">
                          <a:solidFill>
                            <a:srgbClr val="FFD966"/>
                          </a:solidFill>
                          <a:latin typeface="Arial"/>
                          <a:cs typeface="Arial"/>
                        </a:rPr>
                        <a:t> </a:t>
                      </a:r>
                      <a:r>
                        <a:rPr sz="1600" b="1" spc="-10" dirty="0">
                          <a:solidFill>
                            <a:srgbClr val="FFD966"/>
                          </a:solidFill>
                          <a:latin typeface="Arial"/>
                          <a:cs typeface="Arial"/>
                        </a:rPr>
                        <a:t>priority</a:t>
                      </a:r>
                      <a:r>
                        <a:rPr lang="en-US" sz="1600" b="1" spc="-10" dirty="0">
                          <a:solidFill>
                            <a:srgbClr val="FFD966"/>
                          </a:solidFill>
                          <a:latin typeface="Arial"/>
                          <a:cs typeface="Arial"/>
                        </a:rPr>
                        <a:t>: </a:t>
                      </a:r>
                      <a:r>
                        <a:rPr lang="en-US" sz="1600" b="1" dirty="0">
                          <a:solidFill>
                            <a:srgbClr val="FFD966"/>
                          </a:solidFill>
                          <a:latin typeface="Arial"/>
                          <a:cs typeface="Arial"/>
                        </a:rPr>
                        <a:t>Low Likelihood / Low Impact </a:t>
                      </a:r>
                    </a:p>
                    <a:p>
                      <a:pPr marL="300990" marR="291465" indent="0">
                        <a:lnSpc>
                          <a:spcPct val="100000"/>
                        </a:lnSpc>
                        <a:spcBef>
                          <a:spcPts val="625"/>
                        </a:spcBef>
                        <a:buFont typeface="Arial" panose="020B0604020202020204" pitchFamily="34" charset="0"/>
                        <a:buNone/>
                      </a:pPr>
                      <a:endParaRPr lang="en-US" sz="1600" dirty="0">
                        <a:solidFill>
                          <a:srgbClr val="FFD966"/>
                        </a:solidFill>
                        <a:latin typeface="Arial"/>
                        <a:cs typeface="Arial"/>
                      </a:endParaRPr>
                    </a:p>
                    <a:p>
                      <a:pPr marL="643890" marR="291465" indent="-342900">
                        <a:lnSpc>
                          <a:spcPct val="100000"/>
                        </a:lnSpc>
                        <a:spcBef>
                          <a:spcPts val="625"/>
                        </a:spcBef>
                        <a:buFont typeface="Arial" panose="020B0604020202020204" pitchFamily="34" charset="0"/>
                        <a:buChar char="•"/>
                      </a:pPr>
                      <a:r>
                        <a:rPr lang="en-US" sz="1600" dirty="0">
                          <a:solidFill>
                            <a:srgbClr val="FFD966"/>
                          </a:solidFill>
                          <a:latin typeface="Arial"/>
                          <a:cs typeface="Arial"/>
                        </a:rPr>
                        <a:t>Memory Leaks  </a:t>
                      </a:r>
                    </a:p>
                    <a:p>
                      <a:pPr marL="643890" marR="291465" indent="-342900">
                        <a:lnSpc>
                          <a:spcPct val="100000"/>
                        </a:lnSpc>
                        <a:spcBef>
                          <a:spcPts val="625"/>
                        </a:spcBef>
                        <a:buFont typeface="Arial" panose="020B0604020202020204" pitchFamily="34" charset="0"/>
                        <a:buChar char="•"/>
                      </a:pPr>
                      <a:r>
                        <a:rPr lang="en-US" sz="1600" dirty="0">
                          <a:solidFill>
                            <a:srgbClr val="FFD966"/>
                          </a:solidFill>
                          <a:latin typeface="Arial"/>
                          <a:cs typeface="Arial"/>
                        </a:rPr>
                        <a:t>Inefficient Logging  </a:t>
                      </a:r>
                    </a:p>
                    <a:p>
                      <a:pPr marL="643890" marR="291465" indent="-342900">
                        <a:lnSpc>
                          <a:spcPct val="100000"/>
                        </a:lnSpc>
                        <a:spcBef>
                          <a:spcPts val="625"/>
                        </a:spcBef>
                        <a:buFont typeface="Arial" panose="020B0604020202020204" pitchFamily="34" charset="0"/>
                        <a:buChar char="•"/>
                      </a:pPr>
                      <a:r>
                        <a:rPr lang="en-US" sz="1600" dirty="0">
                          <a:solidFill>
                            <a:srgbClr val="FFD966"/>
                          </a:solidFill>
                          <a:latin typeface="Arial"/>
                          <a:cs typeface="Arial"/>
                        </a:rPr>
                        <a:t>Minor Exception Handling Issues </a:t>
                      </a:r>
                      <a:endParaRPr sz="1600" dirty="0">
                        <a:latin typeface="Arial"/>
                        <a:cs typeface="Arial"/>
                      </a:endParaRPr>
                    </a:p>
                  </a:txBody>
                  <a:tcPr marL="0" marR="0" marT="79375" marB="0">
                    <a:lnL w="28575">
                      <a:solidFill>
                        <a:srgbClr val="9E9E9E"/>
                      </a:solidFill>
                      <a:prstDash val="solid"/>
                    </a:lnL>
                    <a:lnR w="28575">
                      <a:solidFill>
                        <a:srgbClr val="9E9E9E"/>
                      </a:solidFill>
                      <a:prstDash val="solid"/>
                    </a:lnR>
                    <a:lnT w="28575">
                      <a:solidFill>
                        <a:srgbClr val="9E9E9E"/>
                      </a:solidFill>
                      <a:prstDash val="solid"/>
                    </a:lnT>
                    <a:lnB w="28575">
                      <a:solidFill>
                        <a:srgbClr val="9E9E9E"/>
                      </a:solidFill>
                      <a:prstDash val="solid"/>
                    </a:lnB>
                    <a:solidFill>
                      <a:srgbClr val="FFF1CC"/>
                    </a:solidFill>
                  </a:tcPr>
                </a:tc>
                <a:tc>
                  <a:txBody>
                    <a:bodyPr/>
                    <a:lstStyle/>
                    <a:p>
                      <a:pPr marL="187960" marR="179070" indent="0">
                        <a:lnSpc>
                          <a:spcPct val="100000"/>
                        </a:lnSpc>
                        <a:spcBef>
                          <a:spcPts val="625"/>
                        </a:spcBef>
                        <a:buFont typeface="Arial" panose="020B0604020202020204" pitchFamily="34" charset="0"/>
                        <a:buNone/>
                      </a:pPr>
                      <a:r>
                        <a:rPr sz="1600" b="1" spc="-10" dirty="0">
                          <a:solidFill>
                            <a:srgbClr val="FFD966"/>
                          </a:solidFill>
                          <a:latin typeface="Arial"/>
                          <a:cs typeface="Arial"/>
                        </a:rPr>
                        <a:t>Unlikely </a:t>
                      </a:r>
                      <a:r>
                        <a:rPr lang="en-US" sz="1600" b="1" dirty="0">
                          <a:solidFill>
                            <a:srgbClr val="FFD966"/>
                          </a:solidFill>
                          <a:latin typeface="Arial"/>
                          <a:cs typeface="Arial"/>
                        </a:rPr>
                        <a:t>Low Likelihood / High Impact </a:t>
                      </a:r>
                    </a:p>
                    <a:p>
                      <a:pPr marL="187960" marR="179070" indent="0">
                        <a:lnSpc>
                          <a:spcPct val="100000"/>
                        </a:lnSpc>
                        <a:spcBef>
                          <a:spcPts val="625"/>
                        </a:spcBef>
                        <a:buFont typeface="Arial" panose="020B0604020202020204" pitchFamily="34" charset="0"/>
                        <a:buNone/>
                      </a:pPr>
                      <a:endParaRPr lang="en-US" sz="1600" dirty="0">
                        <a:solidFill>
                          <a:srgbClr val="FFD966"/>
                        </a:solidFill>
                        <a:latin typeface="Arial"/>
                        <a:cs typeface="Arial"/>
                      </a:endParaRPr>
                    </a:p>
                    <a:p>
                      <a:pPr marL="473710" marR="179070" indent="-285750">
                        <a:lnSpc>
                          <a:spcPct val="100000"/>
                        </a:lnSpc>
                        <a:spcBef>
                          <a:spcPts val="625"/>
                        </a:spcBef>
                        <a:buFont typeface="Arial" panose="020B0604020202020204" pitchFamily="34" charset="0"/>
                        <a:buChar char="•"/>
                      </a:pPr>
                      <a:r>
                        <a:rPr lang="en-US" sz="1600" dirty="0">
                          <a:solidFill>
                            <a:srgbClr val="FFD966"/>
                          </a:solidFill>
                          <a:latin typeface="Arial"/>
                          <a:cs typeface="Arial"/>
                        </a:rPr>
                        <a:t>Race Conditions  </a:t>
                      </a:r>
                    </a:p>
                    <a:p>
                      <a:pPr marL="473710" marR="179070" indent="-285750">
                        <a:lnSpc>
                          <a:spcPct val="100000"/>
                        </a:lnSpc>
                        <a:spcBef>
                          <a:spcPts val="625"/>
                        </a:spcBef>
                        <a:buFont typeface="Arial" panose="020B0604020202020204" pitchFamily="34" charset="0"/>
                        <a:buChar char="•"/>
                      </a:pPr>
                      <a:r>
                        <a:rPr lang="en-US" sz="1600" dirty="0">
                          <a:solidFill>
                            <a:srgbClr val="FFD966"/>
                          </a:solidFill>
                          <a:latin typeface="Arial"/>
                          <a:cs typeface="Arial"/>
                        </a:rPr>
                        <a:t>Advanced Privilege Escalation </a:t>
                      </a:r>
                    </a:p>
                    <a:p>
                      <a:pPr marL="473710" marR="179070" indent="-285750">
                        <a:lnSpc>
                          <a:spcPct val="100000"/>
                        </a:lnSpc>
                        <a:spcBef>
                          <a:spcPts val="625"/>
                        </a:spcBef>
                        <a:buFont typeface="Arial" panose="020B0604020202020204" pitchFamily="34" charset="0"/>
                        <a:buChar char="•"/>
                      </a:pPr>
                      <a:r>
                        <a:rPr lang="en-US" sz="1600" dirty="0">
                          <a:solidFill>
                            <a:srgbClr val="FFD966"/>
                          </a:solidFill>
                          <a:latin typeface="Arial"/>
                          <a:cs typeface="Arial"/>
                        </a:rPr>
                        <a:t>Zero-Day Exploits </a:t>
                      </a:r>
                      <a:endParaRPr sz="1600" dirty="0">
                        <a:latin typeface="Arial"/>
                        <a:cs typeface="Arial"/>
                      </a:endParaRPr>
                    </a:p>
                  </a:txBody>
                  <a:tcPr marL="0" marR="0" marT="79375" marB="0">
                    <a:lnL w="28575">
                      <a:solidFill>
                        <a:srgbClr val="9E9E9E"/>
                      </a:solidFill>
                      <a:prstDash val="solid"/>
                    </a:lnL>
                    <a:lnR w="28575">
                      <a:solidFill>
                        <a:srgbClr val="9E9E9E"/>
                      </a:solidFill>
                      <a:prstDash val="solid"/>
                    </a:lnR>
                    <a:lnT w="28575">
                      <a:solidFill>
                        <a:srgbClr val="9E9E9E"/>
                      </a:solidFill>
                      <a:prstDash val="solid"/>
                    </a:lnT>
                    <a:lnB w="28575">
                      <a:solidFill>
                        <a:srgbClr val="9E9E9E"/>
                      </a:solidFill>
                      <a:prstDash val="solid"/>
                    </a:lnB>
                    <a:solidFill>
                      <a:srgbClr val="FFF1CC"/>
                    </a:solidFill>
                  </a:tcPr>
                </a:tc>
                <a:extLst>
                  <a:ext uri="{0D108BD9-81ED-4DB2-BD59-A6C34878D82A}">
                    <a16:rowId xmlns:a16="http://schemas.microsoft.com/office/drawing/2014/main" val="10001"/>
                  </a:ext>
                </a:extLst>
              </a:tr>
            </a:tbl>
          </a:graphicData>
        </a:graphic>
      </p:graphicFrame>
      <p:pic>
        <p:nvPicPr>
          <p:cNvPr id="5" name="object 5"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624455">
              <a:lnSpc>
                <a:spcPct val="100000"/>
              </a:lnSpc>
              <a:spcBef>
                <a:spcPts val="95"/>
              </a:spcBef>
            </a:pPr>
            <a:r>
              <a:rPr dirty="0"/>
              <a:t>10</a:t>
            </a:r>
            <a:r>
              <a:rPr spc="-10" dirty="0"/>
              <a:t> PRINCIPLES</a:t>
            </a:r>
          </a:p>
        </p:txBody>
      </p:sp>
      <p:sp>
        <p:nvSpPr>
          <p:cNvPr id="3" name="object 3"/>
          <p:cNvSpPr txBox="1"/>
          <p:nvPr/>
        </p:nvSpPr>
        <p:spPr>
          <a:xfrm>
            <a:off x="764524" y="2187935"/>
            <a:ext cx="10484485" cy="3563732"/>
          </a:xfrm>
          <a:prstGeom prst="rect">
            <a:avLst/>
          </a:prstGeom>
        </p:spPr>
        <p:txBody>
          <a:bodyPr vert="horz" wrap="square" lIns="0" tIns="49530" rIns="0" bIns="0" rtlCol="0">
            <a:spAutoFit/>
          </a:bodyPr>
          <a:lstStyle/>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Input Validation → Validate all external input (Standard #1)</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Least Privilege → Limit access rights (Standard #5)</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Defense in Depth → Apply multiple layers of security (All standards)</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Secure Defaults → Systems start in a secure state (Standard #10)</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Fail Securely → Do not expose sensitive data on failure (Standard #4, #10)</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Separation of Concerns → Isolate system components (Standard #7)</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Minimize Attack Surface → Reduce exposed functionality (Standard #7, #9)</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Logging and Monitoring → Track system activity (Standard #8)</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Secure Communication → Protect data in transit (Encryption policies)</a:t>
            </a:r>
          </a:p>
          <a:p>
            <a:pPr marL="241300" marR="5080" indent="-228600">
              <a:lnSpc>
                <a:spcPts val="2380"/>
              </a:lnSpc>
              <a:spcBef>
                <a:spcPts val="390"/>
              </a:spcBef>
              <a:buFont typeface="Arial"/>
              <a:buChar char="•"/>
              <a:tabLst>
                <a:tab pos="241300" algn="l"/>
              </a:tabLst>
            </a:pPr>
            <a:r>
              <a:rPr lang="en-US" dirty="0">
                <a:solidFill>
                  <a:srgbClr val="FFFFFF"/>
                </a:solidFill>
                <a:latin typeface="Century Gothic"/>
                <a:cs typeface="Century Gothic"/>
              </a:rPr>
              <a:t>Continuous Testing → Validate security through testing (Unit testing + automation)</a:t>
            </a: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794385">
              <a:lnSpc>
                <a:spcPct val="100000"/>
              </a:lnSpc>
              <a:spcBef>
                <a:spcPts val="95"/>
              </a:spcBef>
            </a:pPr>
            <a:r>
              <a:rPr dirty="0"/>
              <a:t>CODING</a:t>
            </a:r>
            <a:r>
              <a:rPr spc="-165" dirty="0"/>
              <a:t> </a:t>
            </a:r>
            <a:r>
              <a:rPr spc="-10" dirty="0"/>
              <a:t>STANDARDS</a:t>
            </a:r>
          </a:p>
        </p:txBody>
      </p:sp>
      <p:sp>
        <p:nvSpPr>
          <p:cNvPr id="3" name="object 3"/>
          <p:cNvSpPr txBox="1"/>
          <p:nvPr/>
        </p:nvSpPr>
        <p:spPr>
          <a:xfrm>
            <a:off x="609600" y="1416705"/>
            <a:ext cx="9677400" cy="4973156"/>
          </a:xfrm>
          <a:prstGeom prst="rect">
            <a:avLst/>
          </a:prstGeom>
        </p:spPr>
        <p:txBody>
          <a:bodyPr vert="horz" wrap="square" lIns="0" tIns="47625" rIns="0" bIns="0" rtlCol="0">
            <a:spAutoFit/>
          </a:bodyPr>
          <a:lstStyle/>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1. Input Validation – Prevent malicious input</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2. Memory Safety – Prevent buffer overflows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3. Secure Authentication – Protect user access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4. Secure Error Handling – Avoid information leaks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5. Least Privilege Enforcement – Restrict access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6. Output Encoding – Prevent injection attacks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7. Secure API Usage – Use trusted libraries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8. Logging and Monitoring – Track security events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9. Dependency Management – Avoid vulnerable libraries</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10. Secure Defaults – Safe system configuration</a:t>
            </a:r>
          </a:p>
          <a:p>
            <a:pPr marL="355600" marR="5080" indent="-342900">
              <a:lnSpc>
                <a:spcPts val="2160"/>
              </a:lnSpc>
              <a:spcBef>
                <a:spcPts val="375"/>
              </a:spcBef>
              <a:buFont typeface="Arial" panose="020B0604020202020204" pitchFamily="34" charset="0"/>
              <a:buChar char="•"/>
              <a:tabLst>
                <a:tab pos="241300" algn="l"/>
              </a:tabLst>
            </a:pPr>
            <a:endParaRPr lang="en-US" sz="1400" dirty="0">
              <a:solidFill>
                <a:schemeClr val="bg1"/>
              </a:solidFill>
              <a:latin typeface="Century Gothic"/>
              <a:cs typeface="Century Gothic"/>
            </a:endParaRP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Prioritization Method:</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 Based on Impact + Likelihood</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 Highest priority = direct data compromise risk</a:t>
            </a:r>
          </a:p>
          <a:p>
            <a:pPr marL="355600" marR="5080" indent="-342900">
              <a:lnSpc>
                <a:spcPts val="2160"/>
              </a:lnSpc>
              <a:spcBef>
                <a:spcPts val="375"/>
              </a:spcBef>
              <a:buFont typeface="Arial" panose="020B0604020202020204" pitchFamily="34" charset="0"/>
              <a:buChar char="•"/>
              <a:tabLst>
                <a:tab pos="241300" algn="l"/>
              </a:tabLst>
            </a:pPr>
            <a:r>
              <a:rPr lang="en-US" sz="1400" dirty="0">
                <a:solidFill>
                  <a:schemeClr val="bg1"/>
                </a:solidFill>
                <a:latin typeface="Century Gothic"/>
                <a:cs typeface="Century Gothic"/>
              </a:rPr>
              <a:t>• Lower priority = indirect or less frequent risks</a:t>
            </a:r>
            <a:endParaRPr sz="1400" dirty="0">
              <a:solidFill>
                <a:schemeClr val="bg1"/>
              </a:solidFill>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609600">
              <a:lnSpc>
                <a:spcPct val="100000"/>
              </a:lnSpc>
              <a:spcBef>
                <a:spcPts val="95"/>
              </a:spcBef>
            </a:pPr>
            <a:r>
              <a:rPr dirty="0"/>
              <a:t>ENCRYPTION</a:t>
            </a:r>
            <a:r>
              <a:rPr spc="-160" dirty="0"/>
              <a:t> </a:t>
            </a:r>
            <a:r>
              <a:rPr spc="-10" dirty="0"/>
              <a:t>POLICIES</a:t>
            </a:r>
          </a:p>
        </p:txBody>
      </p:sp>
      <p:sp>
        <p:nvSpPr>
          <p:cNvPr id="3" name="object 3"/>
          <p:cNvSpPr txBox="1"/>
          <p:nvPr/>
        </p:nvSpPr>
        <p:spPr>
          <a:xfrm>
            <a:off x="764524" y="2190983"/>
            <a:ext cx="7866380" cy="3527248"/>
          </a:xfrm>
          <a:prstGeom prst="rect">
            <a:avLst/>
          </a:prstGeom>
        </p:spPr>
        <p:txBody>
          <a:bodyPr vert="horz" wrap="square" lIns="0" tIns="13335" rIns="0" bIns="0" rtlCol="0">
            <a:spAutoFit/>
          </a:bodyPr>
          <a:lstStyle/>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 Data in Transit → Use TLS encryption</a:t>
            </a:r>
          </a:p>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 Data at Rest → Use AES encryption</a:t>
            </a:r>
          </a:p>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 Data in Use → Protect sensitive data in memory</a:t>
            </a:r>
          </a:p>
          <a:p>
            <a:pPr marL="240665" indent="-227965">
              <a:lnSpc>
                <a:spcPct val="100000"/>
              </a:lnSpc>
              <a:spcBef>
                <a:spcPts val="105"/>
              </a:spcBef>
              <a:buFont typeface="Arial"/>
              <a:buChar char="•"/>
              <a:tabLst>
                <a:tab pos="240665" algn="l"/>
              </a:tabLst>
            </a:pPr>
            <a:endParaRPr lang="en-US" sz="2000" dirty="0">
              <a:solidFill>
                <a:srgbClr val="FFFFFF"/>
              </a:solidFill>
              <a:latin typeface="Century Gothic"/>
              <a:cs typeface="Century Gothic"/>
            </a:endParaRPr>
          </a:p>
          <a:p>
            <a:pPr marL="12700">
              <a:lnSpc>
                <a:spcPct val="100000"/>
              </a:lnSpc>
              <a:spcBef>
                <a:spcPts val="105"/>
              </a:spcBef>
              <a:tabLst>
                <a:tab pos="240665" algn="l"/>
              </a:tabLst>
            </a:pPr>
            <a:r>
              <a:rPr lang="en-US" sz="2000" dirty="0">
                <a:solidFill>
                  <a:srgbClr val="FFFFFF"/>
                </a:solidFill>
                <a:latin typeface="Century Gothic"/>
                <a:cs typeface="Century Gothic"/>
              </a:rPr>
              <a:t>Rationale:</a:t>
            </a:r>
          </a:p>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 Prevent data interception (MITM attacks)</a:t>
            </a:r>
          </a:p>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 Protect stored sensitive data</a:t>
            </a:r>
          </a:p>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 Maintain confidentiality and integrity</a:t>
            </a:r>
          </a:p>
          <a:p>
            <a:pPr marL="240665" indent="-227965">
              <a:lnSpc>
                <a:spcPct val="100000"/>
              </a:lnSpc>
              <a:spcBef>
                <a:spcPts val="105"/>
              </a:spcBef>
              <a:buFont typeface="Arial"/>
              <a:buChar char="•"/>
              <a:tabLst>
                <a:tab pos="240665" algn="l"/>
              </a:tabLst>
            </a:pPr>
            <a:endParaRPr lang="en-US" sz="2000" dirty="0">
              <a:solidFill>
                <a:srgbClr val="FFFFFF"/>
              </a:solidFill>
              <a:latin typeface="Century Gothic"/>
              <a:cs typeface="Century Gothic"/>
            </a:endParaRPr>
          </a:p>
          <a:p>
            <a:pPr marL="12700">
              <a:lnSpc>
                <a:spcPct val="100000"/>
              </a:lnSpc>
              <a:spcBef>
                <a:spcPts val="105"/>
              </a:spcBef>
              <a:tabLst>
                <a:tab pos="240665" algn="l"/>
              </a:tabLst>
            </a:pPr>
            <a:r>
              <a:rPr lang="en-US" sz="2000" dirty="0">
                <a:solidFill>
                  <a:srgbClr val="FFFFFF"/>
                </a:solidFill>
                <a:latin typeface="Century Gothic"/>
                <a:cs typeface="Century Gothic"/>
              </a:rPr>
              <a:t>Example:</a:t>
            </a:r>
          </a:p>
          <a:p>
            <a:pPr marL="240665" indent="-227965">
              <a:lnSpc>
                <a:spcPct val="100000"/>
              </a:lnSpc>
              <a:spcBef>
                <a:spcPts val="105"/>
              </a:spcBef>
              <a:buFont typeface="Arial"/>
              <a:buChar char="•"/>
              <a:tabLst>
                <a:tab pos="240665" algn="l"/>
              </a:tabLst>
            </a:pPr>
            <a:r>
              <a:rPr lang="en-US" sz="2000" dirty="0">
                <a:solidFill>
                  <a:srgbClr val="FFFFFF"/>
                </a:solidFill>
                <a:latin typeface="Century Gothic"/>
                <a:cs typeface="Century Gothic"/>
              </a:rPr>
              <a:t>Encrypt login credentials and user data</a:t>
            </a:r>
            <a:endParaRPr sz="2000" dirty="0">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737360">
              <a:lnSpc>
                <a:spcPct val="100000"/>
              </a:lnSpc>
              <a:spcBef>
                <a:spcPts val="95"/>
              </a:spcBef>
            </a:pPr>
            <a:r>
              <a:rPr spc="-10" dirty="0"/>
              <a:t>TRIPLE-</a:t>
            </a:r>
            <a:r>
              <a:rPr dirty="0"/>
              <a:t>A</a:t>
            </a:r>
            <a:r>
              <a:rPr spc="-15" dirty="0"/>
              <a:t> </a:t>
            </a:r>
            <a:r>
              <a:rPr spc="-10" dirty="0"/>
              <a:t>POLICIES</a:t>
            </a:r>
          </a:p>
        </p:txBody>
      </p:sp>
      <p:sp>
        <p:nvSpPr>
          <p:cNvPr id="3" name="object 3"/>
          <p:cNvSpPr txBox="1"/>
          <p:nvPr/>
        </p:nvSpPr>
        <p:spPr>
          <a:xfrm>
            <a:off x="685800" y="1686499"/>
            <a:ext cx="10166350" cy="4619854"/>
          </a:xfrm>
          <a:prstGeom prst="rect">
            <a:avLst/>
          </a:prstGeom>
        </p:spPr>
        <p:txBody>
          <a:bodyPr vert="horz" wrap="square" lIns="0" tIns="53975" rIns="0" bIns="0" rtlCol="0">
            <a:spAutoFit/>
          </a:bodyPr>
          <a:lstStyle/>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Authentication → Verify user identity</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Authorization → Control access levels</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Accounting → Log and monitor activity</a:t>
            </a:r>
          </a:p>
          <a:p>
            <a:pPr marL="240029" marR="5080" indent="-227329">
              <a:lnSpc>
                <a:spcPts val="2590"/>
              </a:lnSpc>
              <a:spcBef>
                <a:spcPts val="425"/>
              </a:spcBef>
              <a:buFont typeface="Arial"/>
              <a:buChar char="•"/>
              <a:tabLst>
                <a:tab pos="241300" algn="l"/>
              </a:tabLst>
            </a:pPr>
            <a:endParaRPr lang="en-US" sz="2000" dirty="0">
              <a:solidFill>
                <a:srgbClr val="FFFFFF"/>
              </a:solidFill>
              <a:latin typeface="Century Gothic"/>
              <a:cs typeface="Century Gothic"/>
            </a:endParaRPr>
          </a:p>
          <a:p>
            <a:pPr marL="12700" marR="5080">
              <a:lnSpc>
                <a:spcPts val="2590"/>
              </a:lnSpc>
              <a:spcBef>
                <a:spcPts val="425"/>
              </a:spcBef>
              <a:tabLst>
                <a:tab pos="241300" algn="l"/>
              </a:tabLst>
            </a:pPr>
            <a:r>
              <a:rPr lang="en-US" sz="2000" dirty="0">
                <a:solidFill>
                  <a:srgbClr val="FFFFFF"/>
                </a:solidFill>
                <a:latin typeface="Century Gothic"/>
                <a:cs typeface="Century Gothic"/>
              </a:rPr>
              <a:t>Policies:</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Use strong password requirements</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Implement role-based access control</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Track login attempts and user actions</a:t>
            </a:r>
          </a:p>
          <a:p>
            <a:pPr marL="240029" marR="5080" indent="-227329">
              <a:lnSpc>
                <a:spcPts val="2590"/>
              </a:lnSpc>
              <a:spcBef>
                <a:spcPts val="425"/>
              </a:spcBef>
              <a:buFont typeface="Arial"/>
              <a:buChar char="•"/>
              <a:tabLst>
                <a:tab pos="241300" algn="l"/>
              </a:tabLst>
            </a:pPr>
            <a:endParaRPr lang="en-US" sz="2000" dirty="0">
              <a:solidFill>
                <a:srgbClr val="FFFFFF"/>
              </a:solidFill>
              <a:latin typeface="Century Gothic"/>
              <a:cs typeface="Century Gothic"/>
            </a:endParaRPr>
          </a:p>
          <a:p>
            <a:pPr marL="12700" marR="5080">
              <a:lnSpc>
                <a:spcPts val="2590"/>
              </a:lnSpc>
              <a:spcBef>
                <a:spcPts val="425"/>
              </a:spcBef>
              <a:tabLst>
                <a:tab pos="241300" algn="l"/>
              </a:tabLst>
            </a:pPr>
            <a:r>
              <a:rPr lang="en-US" sz="2000" dirty="0">
                <a:solidFill>
                  <a:srgbClr val="FFFFFF"/>
                </a:solidFill>
                <a:latin typeface="Century Gothic"/>
                <a:cs typeface="Century Gothic"/>
              </a:rPr>
              <a:t>Purpose:</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Prevent unauthorized access</a:t>
            </a:r>
          </a:p>
          <a:p>
            <a:pPr marL="240029" marR="5080" indent="-227329">
              <a:lnSpc>
                <a:spcPts val="2590"/>
              </a:lnSpc>
              <a:spcBef>
                <a:spcPts val="425"/>
              </a:spcBef>
              <a:buFont typeface="Arial"/>
              <a:buChar char="•"/>
              <a:tabLst>
                <a:tab pos="241300" algn="l"/>
              </a:tabLst>
            </a:pPr>
            <a:r>
              <a:rPr lang="en-US" sz="2000" dirty="0">
                <a:solidFill>
                  <a:srgbClr val="FFFFFF"/>
                </a:solidFill>
                <a:latin typeface="Century Gothic"/>
                <a:cs typeface="Century Gothic"/>
              </a:rPr>
              <a:t>Support auditing and incident response</a:t>
            </a:r>
            <a:endParaRPr sz="2000" dirty="0">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065" rIns="0" bIns="0" rtlCol="0">
            <a:spAutoFit/>
          </a:bodyPr>
          <a:lstStyle/>
          <a:p>
            <a:pPr marL="4540250">
              <a:lnSpc>
                <a:spcPct val="100000"/>
              </a:lnSpc>
              <a:spcBef>
                <a:spcPts val="95"/>
              </a:spcBef>
            </a:pPr>
            <a:r>
              <a:rPr dirty="0"/>
              <a:t>Unit</a:t>
            </a:r>
            <a:r>
              <a:rPr spc="-60" dirty="0"/>
              <a:t> </a:t>
            </a:r>
            <a:r>
              <a:rPr spc="-10" dirty="0"/>
              <a:t>Testing</a:t>
            </a:r>
          </a:p>
        </p:txBody>
      </p:sp>
      <p:sp>
        <p:nvSpPr>
          <p:cNvPr id="3" name="object 3"/>
          <p:cNvSpPr txBox="1"/>
          <p:nvPr/>
        </p:nvSpPr>
        <p:spPr>
          <a:xfrm>
            <a:off x="609600" y="1707484"/>
            <a:ext cx="10171430" cy="4307589"/>
          </a:xfrm>
          <a:prstGeom prst="rect">
            <a:avLst/>
          </a:prstGeom>
        </p:spPr>
        <p:txBody>
          <a:bodyPr vert="horz" wrap="square" lIns="0" tIns="49530" rIns="0" bIns="0" rtlCol="0">
            <a:spAutoFit/>
          </a:bodyPr>
          <a:lstStyle/>
          <a:p>
            <a:pPr marL="12700" marR="5080">
              <a:lnSpc>
                <a:spcPts val="2380"/>
              </a:lnSpc>
              <a:spcBef>
                <a:spcPts val="390"/>
              </a:spcBef>
            </a:pPr>
            <a:r>
              <a:rPr lang="en-US" dirty="0">
                <a:solidFill>
                  <a:srgbClr val="FFFFFF"/>
                </a:solidFill>
                <a:latin typeface="Century Gothic"/>
                <a:cs typeface="Century Gothic"/>
              </a:rPr>
              <a:t>• Validates secure and expected behavior</a:t>
            </a:r>
          </a:p>
          <a:p>
            <a:pPr marL="12700" marR="5080">
              <a:lnSpc>
                <a:spcPts val="2380"/>
              </a:lnSpc>
              <a:spcBef>
                <a:spcPts val="390"/>
              </a:spcBef>
            </a:pPr>
            <a:r>
              <a:rPr lang="en-US" dirty="0">
                <a:solidFill>
                  <a:srgbClr val="FFFFFF"/>
                </a:solidFill>
                <a:latin typeface="Century Gothic"/>
                <a:cs typeface="Century Gothic"/>
              </a:rPr>
              <a:t>• Positive Tests → Confirm correct functionality</a:t>
            </a:r>
          </a:p>
          <a:p>
            <a:pPr marL="12700" marR="5080">
              <a:lnSpc>
                <a:spcPts val="2380"/>
              </a:lnSpc>
              <a:spcBef>
                <a:spcPts val="390"/>
              </a:spcBef>
            </a:pPr>
            <a:r>
              <a:rPr lang="en-US" dirty="0">
                <a:solidFill>
                  <a:srgbClr val="FFFFFF"/>
                </a:solidFill>
                <a:latin typeface="Century Gothic"/>
                <a:cs typeface="Century Gothic"/>
              </a:rPr>
              <a:t>• Negative Tests → Reject invalid or malicious input</a:t>
            </a:r>
          </a:p>
          <a:p>
            <a:pPr marL="12700" marR="5080">
              <a:lnSpc>
                <a:spcPts val="2380"/>
              </a:lnSpc>
              <a:spcBef>
                <a:spcPts val="390"/>
              </a:spcBef>
            </a:pPr>
            <a:endParaRPr lang="en-US" dirty="0">
              <a:solidFill>
                <a:srgbClr val="FFFFFF"/>
              </a:solidFill>
              <a:latin typeface="Century Gothic"/>
              <a:cs typeface="Century Gothic"/>
            </a:endParaRPr>
          </a:p>
          <a:p>
            <a:pPr marL="12700" marR="5080">
              <a:lnSpc>
                <a:spcPts val="2380"/>
              </a:lnSpc>
              <a:spcBef>
                <a:spcPts val="390"/>
              </a:spcBef>
            </a:pPr>
            <a:r>
              <a:rPr lang="en-US" dirty="0">
                <a:solidFill>
                  <a:srgbClr val="FFFFFF"/>
                </a:solidFill>
                <a:latin typeface="Century Gothic"/>
                <a:cs typeface="Century Gothic"/>
              </a:rPr>
              <a:t>Examples:</a:t>
            </a:r>
          </a:p>
          <a:p>
            <a:pPr marL="12700" marR="5080">
              <a:lnSpc>
                <a:spcPts val="2380"/>
              </a:lnSpc>
              <a:spcBef>
                <a:spcPts val="390"/>
              </a:spcBef>
            </a:pPr>
            <a:r>
              <a:rPr lang="en-US" dirty="0">
                <a:solidFill>
                  <a:srgbClr val="FFFFFF"/>
                </a:solidFill>
                <a:latin typeface="Century Gothic"/>
                <a:cs typeface="Century Gothic"/>
              </a:rPr>
              <a:t>• Input validation tests</a:t>
            </a:r>
          </a:p>
          <a:p>
            <a:pPr marL="12700" marR="5080">
              <a:lnSpc>
                <a:spcPts val="2380"/>
              </a:lnSpc>
              <a:spcBef>
                <a:spcPts val="390"/>
              </a:spcBef>
            </a:pPr>
            <a:r>
              <a:rPr lang="en-US" dirty="0">
                <a:solidFill>
                  <a:srgbClr val="FFFFFF"/>
                </a:solidFill>
                <a:latin typeface="Century Gothic"/>
                <a:cs typeface="Century Gothic"/>
              </a:rPr>
              <a:t>• Exception handling tests</a:t>
            </a:r>
          </a:p>
          <a:p>
            <a:pPr marL="12700" marR="5080">
              <a:lnSpc>
                <a:spcPts val="2380"/>
              </a:lnSpc>
              <a:spcBef>
                <a:spcPts val="390"/>
              </a:spcBef>
            </a:pPr>
            <a:r>
              <a:rPr lang="en-US" dirty="0">
                <a:solidFill>
                  <a:srgbClr val="FFFFFF"/>
                </a:solidFill>
                <a:latin typeface="Century Gothic"/>
                <a:cs typeface="Century Gothic"/>
              </a:rPr>
              <a:t>• Boundary value testing</a:t>
            </a:r>
          </a:p>
          <a:p>
            <a:pPr marL="12700" marR="5080">
              <a:lnSpc>
                <a:spcPts val="2380"/>
              </a:lnSpc>
              <a:spcBef>
                <a:spcPts val="390"/>
              </a:spcBef>
            </a:pPr>
            <a:endParaRPr lang="en-US" dirty="0">
              <a:solidFill>
                <a:srgbClr val="FFFFFF"/>
              </a:solidFill>
              <a:latin typeface="Century Gothic"/>
              <a:cs typeface="Century Gothic"/>
            </a:endParaRPr>
          </a:p>
          <a:p>
            <a:pPr marL="12700" marR="5080">
              <a:lnSpc>
                <a:spcPts val="2380"/>
              </a:lnSpc>
              <a:spcBef>
                <a:spcPts val="390"/>
              </a:spcBef>
            </a:pPr>
            <a:r>
              <a:rPr lang="en-US" dirty="0">
                <a:solidFill>
                  <a:srgbClr val="FFFFFF"/>
                </a:solidFill>
                <a:latin typeface="Century Gothic"/>
                <a:cs typeface="Century Gothic"/>
              </a:rPr>
              <a:t>Purpose:</a:t>
            </a:r>
          </a:p>
          <a:p>
            <a:pPr marL="12700" marR="5080">
              <a:lnSpc>
                <a:spcPts val="2380"/>
              </a:lnSpc>
              <a:spcBef>
                <a:spcPts val="390"/>
              </a:spcBef>
            </a:pPr>
            <a:r>
              <a:rPr lang="en-US" dirty="0">
                <a:solidFill>
                  <a:srgbClr val="FFFFFF"/>
                </a:solidFill>
                <a:latin typeface="Century Gothic"/>
                <a:cs typeface="Century Gothic"/>
              </a:rPr>
              <a:t>• Detect vulnerabilities early</a:t>
            </a:r>
          </a:p>
          <a:p>
            <a:pPr marL="12700" marR="5080">
              <a:lnSpc>
                <a:spcPts val="2380"/>
              </a:lnSpc>
              <a:spcBef>
                <a:spcPts val="390"/>
              </a:spcBef>
            </a:pPr>
            <a:r>
              <a:rPr lang="en-US" dirty="0">
                <a:solidFill>
                  <a:srgbClr val="FFFFFF"/>
                </a:solidFill>
                <a:latin typeface="Century Gothic"/>
                <a:cs typeface="Century Gothic"/>
              </a:rPr>
              <a:t>• Prevent regression issues</a:t>
            </a:r>
            <a:endParaRPr dirty="0">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AUTOMATION</a:t>
            </a:r>
            <a:r>
              <a:rPr spc="-229" dirty="0"/>
              <a:t> </a:t>
            </a:r>
            <a:r>
              <a:rPr spc="-10" dirty="0"/>
              <a:t>SUMMARY</a:t>
            </a:r>
          </a:p>
        </p:txBody>
      </p:sp>
      <p:pic>
        <p:nvPicPr>
          <p:cNvPr id="3" name="object 3" descr="DevSec Ops Toolchain Diagram Graphical representation of the automation process used in the enforcement and compliance of the Security Policy Standards. 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nvPr/>
        </p:nvPicPr>
        <p:blipFill>
          <a:blip r:embed="rId2" cstate="print"/>
          <a:stretch>
            <a:fillRect/>
          </a:stretch>
        </p:blipFill>
        <p:spPr>
          <a:xfrm>
            <a:off x="2127250" y="2199487"/>
            <a:ext cx="7937499" cy="4013187"/>
          </a:xfrm>
          <a:prstGeom prst="rect">
            <a:avLst/>
          </a:prstGeom>
        </p:spPr>
      </p:pic>
      <p:pic>
        <p:nvPicPr>
          <p:cNvPr id="4" name="object 4" descr="Green Pace logo"/>
          <p:cNvPicPr/>
          <p:nvPr/>
        </p:nvPicPr>
        <p:blipFill>
          <a:blip r:embed="rId3" cstate="print"/>
          <a:stretch>
            <a:fillRect/>
          </a:stretch>
        </p:blipFill>
        <p:spPr>
          <a:xfrm>
            <a:off x="11084073" y="5440527"/>
            <a:ext cx="886591" cy="114909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4427220">
              <a:lnSpc>
                <a:spcPct val="100000"/>
              </a:lnSpc>
              <a:spcBef>
                <a:spcPts val="95"/>
              </a:spcBef>
            </a:pPr>
            <a:r>
              <a:rPr spc="-10" dirty="0"/>
              <a:t>TOOLS</a:t>
            </a:r>
          </a:p>
        </p:txBody>
      </p:sp>
      <p:sp>
        <p:nvSpPr>
          <p:cNvPr id="3" name="object 3"/>
          <p:cNvSpPr txBox="1"/>
          <p:nvPr/>
        </p:nvSpPr>
        <p:spPr>
          <a:xfrm>
            <a:off x="914400" y="1524000"/>
            <a:ext cx="9974580" cy="4662880"/>
          </a:xfrm>
          <a:prstGeom prst="rect">
            <a:avLst/>
          </a:prstGeom>
        </p:spPr>
        <p:txBody>
          <a:bodyPr vert="horz" wrap="square" lIns="0" tIns="45720" rIns="0" bIns="0" rtlCol="0">
            <a:spAutoFit/>
          </a:bodyPr>
          <a:lstStyle/>
          <a:p>
            <a:pPr marL="12700">
              <a:lnSpc>
                <a:spcPct val="100000"/>
              </a:lnSpc>
              <a:spcBef>
                <a:spcPts val="360"/>
              </a:spcBef>
              <a:tabLst>
                <a:tab pos="240665" algn="l"/>
              </a:tabLst>
            </a:pPr>
            <a:r>
              <a:rPr sz="1400" dirty="0" err="1">
                <a:solidFill>
                  <a:srgbClr val="FFFFFF"/>
                </a:solidFill>
                <a:latin typeface="Century Gothic"/>
                <a:cs typeface="Century Gothic"/>
              </a:rPr>
              <a:t>DevSecOps</a:t>
            </a:r>
            <a:r>
              <a:rPr sz="1400" spc="-70" dirty="0">
                <a:solidFill>
                  <a:srgbClr val="FFFFFF"/>
                </a:solidFill>
                <a:latin typeface="Century Gothic"/>
                <a:cs typeface="Century Gothic"/>
              </a:rPr>
              <a:t> </a:t>
            </a:r>
            <a:r>
              <a:rPr sz="1400" spc="-10" dirty="0">
                <a:solidFill>
                  <a:srgbClr val="FFFFFF"/>
                </a:solidFill>
                <a:latin typeface="Century Gothic"/>
                <a:cs typeface="Century Gothic"/>
              </a:rPr>
              <a:t>pipeline</a:t>
            </a:r>
            <a:r>
              <a:rPr lang="en-US" sz="1400" spc="-10" dirty="0">
                <a:solidFill>
                  <a:srgbClr val="FFFFFF"/>
                </a:solidFill>
                <a:latin typeface="Century Gothic"/>
                <a:cs typeface="Century Gothic"/>
              </a:rPr>
              <a:t>: </a:t>
            </a:r>
          </a:p>
          <a:p>
            <a:pPr marL="12700">
              <a:lnSpc>
                <a:spcPct val="100000"/>
              </a:lnSpc>
              <a:spcBef>
                <a:spcPts val="360"/>
              </a:spcBef>
              <a:tabLst>
                <a:tab pos="240665" algn="l"/>
              </a:tabLst>
            </a:pPr>
            <a:endParaRPr lang="en-US" sz="1400" spc="-10" dirty="0">
              <a:solidFill>
                <a:srgbClr val="FFFFFF"/>
              </a:solidFill>
              <a:latin typeface="Century Gothic"/>
              <a:cs typeface="Century Gothic"/>
            </a:endParaRPr>
          </a:p>
          <a:p>
            <a:pPr marL="240665" indent="-227965">
              <a:lnSpc>
                <a:spcPct val="100000"/>
              </a:lnSpc>
              <a:spcBef>
                <a:spcPts val="360"/>
              </a:spcBef>
              <a:buFont typeface="Arial"/>
              <a:buChar char="•"/>
              <a:tabLst>
                <a:tab pos="240665" algn="l"/>
              </a:tabLst>
            </a:pPr>
            <a:r>
              <a:rPr lang="en-US" sz="1400" spc="-10" dirty="0">
                <a:solidFill>
                  <a:srgbClr val="FFFFFF"/>
                </a:solidFill>
                <a:latin typeface="Century Gothic"/>
                <a:cs typeface="Century Gothic"/>
              </a:rPr>
              <a:t>Security should be integrated throughout the development lifecycle using a </a:t>
            </a:r>
            <a:r>
              <a:rPr lang="en-US" sz="1400" spc="-10" dirty="0" err="1">
                <a:solidFill>
                  <a:srgbClr val="FFFFFF"/>
                </a:solidFill>
                <a:latin typeface="Century Gothic"/>
                <a:cs typeface="Century Gothic"/>
              </a:rPr>
              <a:t>DevSecOps</a:t>
            </a:r>
            <a:r>
              <a:rPr lang="en-US" sz="1400" spc="-10" dirty="0">
                <a:solidFill>
                  <a:srgbClr val="FFFFFF"/>
                </a:solidFill>
                <a:latin typeface="Century Gothic"/>
                <a:cs typeface="Century Gothic"/>
              </a:rPr>
              <a:t> approach. During development, static analysis tools such as </a:t>
            </a:r>
            <a:r>
              <a:rPr lang="en-US" sz="1400" spc="-10" dirty="0" err="1">
                <a:solidFill>
                  <a:srgbClr val="FFFFFF"/>
                </a:solidFill>
                <a:latin typeface="Century Gothic"/>
                <a:cs typeface="Century Gothic"/>
              </a:rPr>
              <a:t>Cppcheck</a:t>
            </a:r>
            <a:r>
              <a:rPr lang="en-US" sz="1400" spc="-10" dirty="0">
                <a:solidFill>
                  <a:srgbClr val="FFFFFF"/>
                </a:solidFill>
                <a:latin typeface="Century Gothic"/>
                <a:cs typeface="Century Gothic"/>
              </a:rPr>
              <a:t> help identify vulnerabilities </a:t>
            </a:r>
            <a:r>
              <a:rPr lang="en-US" sz="1400" spc="-10" dirty="0" err="1">
                <a:solidFill>
                  <a:srgbClr val="FFFFFF"/>
                </a:solidFill>
                <a:latin typeface="Century Gothic"/>
                <a:cs typeface="Century Gothic"/>
              </a:rPr>
              <a:t>early.During</a:t>
            </a:r>
            <a:r>
              <a:rPr lang="en-US" sz="1400" spc="-10" dirty="0">
                <a:solidFill>
                  <a:srgbClr val="FFFFFF"/>
                </a:solidFill>
                <a:latin typeface="Century Gothic"/>
                <a:cs typeface="Century Gothic"/>
              </a:rPr>
              <a:t> the build phase, compiler warnings highlight unsafe coding patterns. During testing, automated unit tests validate both functionality and security </a:t>
            </a:r>
            <a:r>
              <a:rPr lang="en-US" sz="1400" spc="-10" dirty="0" err="1">
                <a:solidFill>
                  <a:srgbClr val="FFFFFF"/>
                </a:solidFill>
                <a:latin typeface="Century Gothic"/>
                <a:cs typeface="Century Gothic"/>
              </a:rPr>
              <a:t>behavior.This</a:t>
            </a:r>
            <a:r>
              <a:rPr lang="en-US" sz="1400" spc="-10" dirty="0">
                <a:solidFill>
                  <a:srgbClr val="FFFFFF"/>
                </a:solidFill>
                <a:latin typeface="Century Gothic"/>
                <a:cs typeface="Century Gothic"/>
              </a:rPr>
              <a:t> continuous integration of security ensures vulnerabilities are detected and addressed as early as possible. </a:t>
            </a:r>
          </a:p>
          <a:p>
            <a:pPr marL="240665" indent="-227965">
              <a:lnSpc>
                <a:spcPct val="100000"/>
              </a:lnSpc>
              <a:spcBef>
                <a:spcPts val="360"/>
              </a:spcBef>
              <a:buFont typeface="Arial"/>
              <a:buChar char="•"/>
              <a:tabLst>
                <a:tab pos="240665" algn="l"/>
              </a:tabLst>
            </a:pPr>
            <a:endParaRPr sz="1400" dirty="0">
              <a:latin typeface="Century Gothic"/>
              <a:cs typeface="Century Gothic"/>
            </a:endParaRPr>
          </a:p>
          <a:p>
            <a:pPr marL="241300" marR="5080" indent="-228600">
              <a:lnSpc>
                <a:spcPts val="2160"/>
              </a:lnSpc>
              <a:spcBef>
                <a:spcPts val="540"/>
              </a:spcBef>
              <a:buFont typeface="Arial"/>
              <a:buChar char="•"/>
              <a:tabLst>
                <a:tab pos="241300" algn="l"/>
              </a:tabLst>
            </a:pPr>
            <a:r>
              <a:rPr lang="en-US" sz="1400" dirty="0" err="1">
                <a:solidFill>
                  <a:srgbClr val="FFFFFF"/>
                </a:solidFill>
                <a:latin typeface="Century Gothic"/>
                <a:cs typeface="Century Gothic"/>
              </a:rPr>
              <a:t>Cppcheck</a:t>
            </a:r>
            <a:r>
              <a:rPr lang="en-US" sz="1400" dirty="0">
                <a:solidFill>
                  <a:srgbClr val="FFFFFF"/>
                </a:solidFill>
                <a:latin typeface="Century Gothic"/>
                <a:cs typeface="Century Gothic"/>
              </a:rPr>
              <a:t> → Static code analysis</a:t>
            </a:r>
          </a:p>
          <a:p>
            <a:pPr marL="241300" marR="5080" indent="-228600">
              <a:lnSpc>
                <a:spcPts val="2160"/>
              </a:lnSpc>
              <a:spcBef>
                <a:spcPts val="540"/>
              </a:spcBef>
              <a:buFont typeface="Arial"/>
              <a:buChar char="•"/>
              <a:tabLst>
                <a:tab pos="241300" algn="l"/>
              </a:tabLst>
            </a:pPr>
            <a:r>
              <a:rPr lang="en-US" sz="1400" dirty="0">
                <a:solidFill>
                  <a:srgbClr val="FFFFFF"/>
                </a:solidFill>
                <a:latin typeface="Century Gothic"/>
                <a:cs typeface="Century Gothic"/>
              </a:rPr>
              <a:t>Compiler Warnings → Detect unsafe code</a:t>
            </a:r>
          </a:p>
          <a:p>
            <a:pPr marL="241300" marR="5080" indent="-228600">
              <a:lnSpc>
                <a:spcPts val="2160"/>
              </a:lnSpc>
              <a:spcBef>
                <a:spcPts val="540"/>
              </a:spcBef>
              <a:buFont typeface="Arial"/>
              <a:buChar char="•"/>
              <a:tabLst>
                <a:tab pos="241300" algn="l"/>
              </a:tabLst>
            </a:pPr>
            <a:r>
              <a:rPr lang="en-US" sz="1400" dirty="0">
                <a:solidFill>
                  <a:srgbClr val="FFFFFF"/>
                </a:solidFill>
                <a:latin typeface="Century Gothic"/>
                <a:cs typeface="Century Gothic"/>
              </a:rPr>
              <a:t>Google Test → Unit testing framework</a:t>
            </a:r>
          </a:p>
          <a:p>
            <a:pPr marL="12700" marR="5080">
              <a:lnSpc>
                <a:spcPts val="2160"/>
              </a:lnSpc>
              <a:spcBef>
                <a:spcPts val="540"/>
              </a:spcBef>
              <a:tabLst>
                <a:tab pos="241300" algn="l"/>
              </a:tabLst>
            </a:pPr>
            <a:endParaRPr lang="en-US" sz="1400" dirty="0">
              <a:solidFill>
                <a:srgbClr val="FFFFFF"/>
              </a:solidFill>
              <a:latin typeface="Century Gothic"/>
              <a:cs typeface="Century Gothic"/>
            </a:endParaRPr>
          </a:p>
          <a:p>
            <a:pPr marL="12700" marR="5080">
              <a:lnSpc>
                <a:spcPts val="2160"/>
              </a:lnSpc>
              <a:spcBef>
                <a:spcPts val="540"/>
              </a:spcBef>
              <a:tabLst>
                <a:tab pos="241300" algn="l"/>
              </a:tabLst>
            </a:pPr>
            <a:r>
              <a:rPr lang="en-US" sz="1400" dirty="0">
                <a:solidFill>
                  <a:srgbClr val="FFFFFF"/>
                </a:solidFill>
                <a:latin typeface="Century Gothic"/>
                <a:cs typeface="Century Gothic"/>
              </a:rPr>
              <a:t>Benefits:</a:t>
            </a:r>
          </a:p>
          <a:p>
            <a:pPr marL="241300" marR="5080" indent="-228600">
              <a:lnSpc>
                <a:spcPts val="2160"/>
              </a:lnSpc>
              <a:spcBef>
                <a:spcPts val="540"/>
              </a:spcBef>
              <a:buFont typeface="Arial"/>
              <a:buChar char="•"/>
              <a:tabLst>
                <a:tab pos="241300" algn="l"/>
              </a:tabLst>
            </a:pPr>
            <a:r>
              <a:rPr lang="en-US" sz="1400" dirty="0">
                <a:solidFill>
                  <a:srgbClr val="FFFFFF"/>
                </a:solidFill>
                <a:latin typeface="Century Gothic"/>
                <a:cs typeface="Century Gothic"/>
              </a:rPr>
              <a:t>Early vulnerability detection</a:t>
            </a:r>
          </a:p>
          <a:p>
            <a:pPr marL="241300" marR="5080" indent="-228600">
              <a:lnSpc>
                <a:spcPts val="2160"/>
              </a:lnSpc>
              <a:spcBef>
                <a:spcPts val="540"/>
              </a:spcBef>
              <a:buFont typeface="Arial"/>
              <a:buChar char="•"/>
              <a:tabLst>
                <a:tab pos="241300" algn="l"/>
              </a:tabLst>
            </a:pPr>
            <a:r>
              <a:rPr lang="en-US" sz="1400" dirty="0">
                <a:solidFill>
                  <a:srgbClr val="FFFFFF"/>
                </a:solidFill>
                <a:latin typeface="Century Gothic"/>
                <a:cs typeface="Century Gothic"/>
              </a:rPr>
              <a:t>Improved code quality</a:t>
            </a:r>
          </a:p>
          <a:p>
            <a:pPr marL="241300" marR="5080" indent="-228600">
              <a:lnSpc>
                <a:spcPts val="2160"/>
              </a:lnSpc>
              <a:spcBef>
                <a:spcPts val="540"/>
              </a:spcBef>
              <a:buFont typeface="Arial"/>
              <a:buChar char="•"/>
              <a:tabLst>
                <a:tab pos="241300" algn="l"/>
              </a:tabLst>
            </a:pPr>
            <a:r>
              <a:rPr lang="en-US" sz="1400" dirty="0">
                <a:solidFill>
                  <a:srgbClr val="FFFFFF"/>
                </a:solidFill>
                <a:latin typeface="Century Gothic"/>
                <a:cs typeface="Century Gothic"/>
              </a:rPr>
              <a:t>Reduced security defects </a:t>
            </a:r>
            <a:endParaRPr sz="1400" dirty="0">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332230">
              <a:lnSpc>
                <a:spcPct val="100000"/>
              </a:lnSpc>
              <a:spcBef>
                <a:spcPts val="95"/>
              </a:spcBef>
            </a:pPr>
            <a:r>
              <a:rPr dirty="0"/>
              <a:t>RISKS</a:t>
            </a:r>
            <a:r>
              <a:rPr spc="-75" dirty="0"/>
              <a:t> </a:t>
            </a:r>
            <a:r>
              <a:rPr dirty="0"/>
              <a:t>AND</a:t>
            </a:r>
            <a:r>
              <a:rPr spc="-45" dirty="0"/>
              <a:t> </a:t>
            </a:r>
            <a:r>
              <a:rPr spc="-10" dirty="0"/>
              <a:t>BENEFITS</a:t>
            </a:r>
          </a:p>
        </p:txBody>
      </p:sp>
      <p:sp>
        <p:nvSpPr>
          <p:cNvPr id="3" name="object 3"/>
          <p:cNvSpPr txBox="1"/>
          <p:nvPr/>
        </p:nvSpPr>
        <p:spPr>
          <a:xfrm>
            <a:off x="1371600" y="1683759"/>
            <a:ext cx="6119178" cy="4331314"/>
          </a:xfrm>
          <a:prstGeom prst="rect">
            <a:avLst/>
          </a:prstGeom>
        </p:spPr>
        <p:txBody>
          <a:bodyPr vert="horz" wrap="square" lIns="0" tIns="47625" rIns="0" bIns="0" rtlCol="0">
            <a:spAutoFit/>
          </a:bodyPr>
          <a:lstStyle/>
          <a:p>
            <a:pPr marL="12700" marR="5080">
              <a:lnSpc>
                <a:spcPts val="2160"/>
              </a:lnSpc>
              <a:spcBef>
                <a:spcPts val="375"/>
              </a:spcBef>
              <a:tabLst>
                <a:tab pos="241300" algn="l"/>
              </a:tabLst>
            </a:pPr>
            <a:r>
              <a:rPr lang="en-US" sz="1600" dirty="0">
                <a:solidFill>
                  <a:srgbClr val="FFFFFF"/>
                </a:solidFill>
                <a:latin typeface="Century Gothic"/>
                <a:cs typeface="Century Gothic"/>
              </a:rPr>
              <a:t>Fix Now:</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SQL Injection</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Weak Authentication</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Buffer Overflow</a:t>
            </a:r>
          </a:p>
          <a:p>
            <a:pPr marL="241300" marR="5080" indent="-228600">
              <a:lnSpc>
                <a:spcPts val="2160"/>
              </a:lnSpc>
              <a:spcBef>
                <a:spcPts val="375"/>
              </a:spcBef>
              <a:buFont typeface="Arial"/>
              <a:buChar char="•"/>
              <a:tabLst>
                <a:tab pos="241300" algn="l"/>
              </a:tabLst>
            </a:pPr>
            <a:endParaRPr lang="en-US" sz="1600" dirty="0">
              <a:solidFill>
                <a:srgbClr val="FFFFFF"/>
              </a:solidFill>
              <a:latin typeface="Century Gothic"/>
              <a:cs typeface="Century Gothic"/>
            </a:endParaRPr>
          </a:p>
          <a:p>
            <a:pPr marL="12700" marR="5080">
              <a:lnSpc>
                <a:spcPts val="2160"/>
              </a:lnSpc>
              <a:spcBef>
                <a:spcPts val="375"/>
              </a:spcBef>
              <a:tabLst>
                <a:tab pos="241300" algn="l"/>
              </a:tabLst>
            </a:pPr>
            <a:r>
              <a:rPr lang="en-US" sz="1600" dirty="0">
                <a:solidFill>
                  <a:srgbClr val="FFFFFF"/>
                </a:solidFill>
                <a:latin typeface="Century Gothic"/>
                <a:cs typeface="Century Gothic"/>
              </a:rPr>
              <a:t>Fix Later:</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Minor logging issues</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Performance-related concerns</a:t>
            </a:r>
          </a:p>
          <a:p>
            <a:pPr marL="241300" marR="5080" indent="-228600">
              <a:lnSpc>
                <a:spcPts val="2160"/>
              </a:lnSpc>
              <a:spcBef>
                <a:spcPts val="375"/>
              </a:spcBef>
              <a:buFont typeface="Arial"/>
              <a:buChar char="•"/>
              <a:tabLst>
                <a:tab pos="241300" algn="l"/>
              </a:tabLst>
            </a:pPr>
            <a:endParaRPr lang="en-US" sz="1600" dirty="0">
              <a:solidFill>
                <a:srgbClr val="FFFFFF"/>
              </a:solidFill>
              <a:latin typeface="Century Gothic"/>
              <a:cs typeface="Century Gothic"/>
            </a:endParaRPr>
          </a:p>
          <a:p>
            <a:pPr marL="12700" marR="5080">
              <a:lnSpc>
                <a:spcPts val="2160"/>
              </a:lnSpc>
              <a:spcBef>
                <a:spcPts val="375"/>
              </a:spcBef>
              <a:tabLst>
                <a:tab pos="241300" algn="l"/>
              </a:tabLst>
            </a:pPr>
            <a:r>
              <a:rPr lang="en-US" sz="1600" dirty="0">
                <a:solidFill>
                  <a:srgbClr val="FFFFFF"/>
                </a:solidFill>
                <a:latin typeface="Century Gothic"/>
                <a:cs typeface="Century Gothic"/>
              </a:rPr>
              <a:t>Benefits:</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Reduced breach risk</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Improved system reliability</a:t>
            </a:r>
          </a:p>
          <a:p>
            <a:pPr marL="241300" marR="5080" indent="-228600">
              <a:lnSpc>
                <a:spcPts val="2160"/>
              </a:lnSpc>
              <a:spcBef>
                <a:spcPts val="375"/>
              </a:spcBef>
              <a:buFont typeface="Arial"/>
              <a:buChar char="•"/>
              <a:tabLst>
                <a:tab pos="241300" algn="l"/>
              </a:tabLst>
            </a:pPr>
            <a:r>
              <a:rPr lang="en-US" sz="1600" dirty="0">
                <a:solidFill>
                  <a:srgbClr val="FFFFFF"/>
                </a:solidFill>
                <a:latin typeface="Century Gothic"/>
                <a:cs typeface="Century Gothic"/>
              </a:rPr>
              <a:t>Increased trust and compliance</a:t>
            </a:r>
            <a:endParaRPr sz="1600" dirty="0">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845819">
              <a:lnSpc>
                <a:spcPct val="100000"/>
              </a:lnSpc>
              <a:spcBef>
                <a:spcPts val="95"/>
              </a:spcBef>
            </a:pPr>
            <a:r>
              <a:rPr spc="-10" dirty="0"/>
              <a:t>RECOMMENDATIONS</a:t>
            </a:r>
          </a:p>
        </p:txBody>
      </p:sp>
      <p:sp>
        <p:nvSpPr>
          <p:cNvPr id="3" name="object 3"/>
          <p:cNvSpPr txBox="1"/>
          <p:nvPr/>
        </p:nvSpPr>
        <p:spPr>
          <a:xfrm>
            <a:off x="1593216" y="2438400"/>
            <a:ext cx="5941076" cy="1449115"/>
          </a:xfrm>
          <a:prstGeom prst="rect">
            <a:avLst/>
          </a:prstGeom>
        </p:spPr>
        <p:txBody>
          <a:bodyPr vert="horz" wrap="square" lIns="0" tIns="12700" rIns="0" bIns="0" rtlCol="0">
            <a:spAutoFit/>
          </a:bodyPr>
          <a:lstStyle/>
          <a:p>
            <a:pPr marL="12700">
              <a:lnSpc>
                <a:spcPct val="100000"/>
              </a:lnSpc>
              <a:spcBef>
                <a:spcPts val="100"/>
              </a:spcBef>
              <a:tabLst>
                <a:tab pos="240665" algn="l"/>
              </a:tabLst>
            </a:pPr>
            <a:r>
              <a:rPr lang="en-US" sz="1800" dirty="0">
                <a:solidFill>
                  <a:schemeClr val="bg1"/>
                </a:solidFill>
                <a:latin typeface="Century Gothic"/>
                <a:cs typeface="Century Gothic"/>
              </a:rPr>
              <a:t>• Integrate security into all development stages</a:t>
            </a:r>
          </a:p>
          <a:p>
            <a:pPr marL="12700">
              <a:lnSpc>
                <a:spcPct val="100000"/>
              </a:lnSpc>
              <a:spcBef>
                <a:spcPts val="100"/>
              </a:spcBef>
              <a:tabLst>
                <a:tab pos="240665" algn="l"/>
              </a:tabLst>
            </a:pPr>
            <a:r>
              <a:rPr lang="en-US" sz="1800" dirty="0">
                <a:solidFill>
                  <a:schemeClr val="bg1"/>
                </a:solidFill>
                <a:latin typeface="Century Gothic"/>
                <a:cs typeface="Century Gothic"/>
              </a:rPr>
              <a:t>• Prioritize vulnerabilities by impact and likelihood</a:t>
            </a:r>
          </a:p>
          <a:p>
            <a:pPr marL="12700">
              <a:lnSpc>
                <a:spcPct val="100000"/>
              </a:lnSpc>
              <a:spcBef>
                <a:spcPts val="100"/>
              </a:spcBef>
              <a:tabLst>
                <a:tab pos="240665" algn="l"/>
              </a:tabLst>
            </a:pPr>
            <a:r>
              <a:rPr lang="en-US" sz="1800" dirty="0">
                <a:solidFill>
                  <a:schemeClr val="bg1"/>
                </a:solidFill>
                <a:latin typeface="Century Gothic"/>
                <a:cs typeface="Century Gothic"/>
              </a:rPr>
              <a:t>• Expand automated testing and scanning</a:t>
            </a:r>
          </a:p>
          <a:p>
            <a:pPr marL="12700">
              <a:lnSpc>
                <a:spcPct val="100000"/>
              </a:lnSpc>
              <a:spcBef>
                <a:spcPts val="100"/>
              </a:spcBef>
              <a:tabLst>
                <a:tab pos="240665" algn="l"/>
              </a:tabLst>
            </a:pPr>
            <a:r>
              <a:rPr lang="en-US" sz="1800" dirty="0">
                <a:solidFill>
                  <a:schemeClr val="bg1"/>
                </a:solidFill>
                <a:latin typeface="Century Gothic"/>
                <a:cs typeface="Century Gothic"/>
              </a:rPr>
              <a:t>• Provide secure coding training</a:t>
            </a:r>
          </a:p>
          <a:p>
            <a:pPr marL="12700">
              <a:lnSpc>
                <a:spcPct val="100000"/>
              </a:lnSpc>
              <a:spcBef>
                <a:spcPts val="100"/>
              </a:spcBef>
              <a:tabLst>
                <a:tab pos="240665" algn="l"/>
              </a:tabLst>
            </a:pPr>
            <a:r>
              <a:rPr lang="en-US" sz="1800" dirty="0">
                <a:solidFill>
                  <a:schemeClr val="bg1"/>
                </a:solidFill>
                <a:latin typeface="Century Gothic"/>
                <a:cs typeface="Century Gothic"/>
              </a:rPr>
              <a:t>• Regularly update security policies</a:t>
            </a:r>
            <a:endParaRPr sz="1800" dirty="0">
              <a:solidFill>
                <a:schemeClr val="bg1"/>
              </a:solidFill>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368550">
              <a:lnSpc>
                <a:spcPct val="100000"/>
              </a:lnSpc>
              <a:spcBef>
                <a:spcPts val="95"/>
              </a:spcBef>
            </a:pPr>
            <a:r>
              <a:rPr spc="-10" dirty="0"/>
              <a:t>CONCLUSIONS</a:t>
            </a:r>
          </a:p>
        </p:txBody>
      </p:sp>
      <p:sp>
        <p:nvSpPr>
          <p:cNvPr id="3" name="object 3"/>
          <p:cNvSpPr txBox="1"/>
          <p:nvPr/>
        </p:nvSpPr>
        <p:spPr>
          <a:xfrm>
            <a:off x="1371600" y="2590800"/>
            <a:ext cx="8150876" cy="1158651"/>
          </a:xfrm>
          <a:prstGeom prst="rect">
            <a:avLst/>
          </a:prstGeom>
        </p:spPr>
        <p:txBody>
          <a:bodyPr vert="horz" wrap="square" lIns="0" tIns="12065" rIns="0" bIns="0" rtlCol="0">
            <a:spAutoFit/>
          </a:bodyPr>
          <a:lstStyle/>
          <a:p>
            <a:pPr marL="12700">
              <a:lnSpc>
                <a:spcPct val="100000"/>
              </a:lnSpc>
              <a:spcBef>
                <a:spcPts val="95"/>
              </a:spcBef>
              <a:tabLst>
                <a:tab pos="240665" algn="l"/>
              </a:tabLst>
            </a:pPr>
            <a:r>
              <a:rPr lang="en-US" dirty="0">
                <a:solidFill>
                  <a:schemeClr val="bg1"/>
                </a:solidFill>
                <a:latin typeface="Century Gothic"/>
                <a:cs typeface="Century Gothic"/>
              </a:rPr>
              <a:t>• Security must be proactive, not reactive</a:t>
            </a:r>
          </a:p>
          <a:p>
            <a:pPr marL="12700">
              <a:lnSpc>
                <a:spcPct val="100000"/>
              </a:lnSpc>
              <a:spcBef>
                <a:spcPts val="95"/>
              </a:spcBef>
              <a:tabLst>
                <a:tab pos="240665" algn="l"/>
              </a:tabLst>
            </a:pPr>
            <a:r>
              <a:rPr lang="en-US" dirty="0">
                <a:solidFill>
                  <a:schemeClr val="bg1"/>
                </a:solidFill>
                <a:latin typeface="Century Gothic"/>
                <a:cs typeface="Century Gothic"/>
              </a:rPr>
              <a:t>• Prioritize high-risk vulnerabilities first</a:t>
            </a:r>
          </a:p>
          <a:p>
            <a:pPr marL="12700">
              <a:lnSpc>
                <a:spcPct val="100000"/>
              </a:lnSpc>
              <a:spcBef>
                <a:spcPts val="95"/>
              </a:spcBef>
              <a:tabLst>
                <a:tab pos="240665" algn="l"/>
              </a:tabLst>
            </a:pPr>
            <a:r>
              <a:rPr lang="en-US" dirty="0">
                <a:solidFill>
                  <a:schemeClr val="bg1"/>
                </a:solidFill>
                <a:latin typeface="Century Gothic"/>
                <a:cs typeface="Century Gothic"/>
              </a:rPr>
              <a:t>• Use layered defense strategies</a:t>
            </a:r>
          </a:p>
          <a:p>
            <a:pPr marL="12700">
              <a:lnSpc>
                <a:spcPct val="100000"/>
              </a:lnSpc>
              <a:spcBef>
                <a:spcPts val="95"/>
              </a:spcBef>
              <a:tabLst>
                <a:tab pos="240665" algn="l"/>
              </a:tabLst>
            </a:pPr>
            <a:r>
              <a:rPr lang="en-US" dirty="0">
                <a:solidFill>
                  <a:schemeClr val="bg1"/>
                </a:solidFill>
                <a:latin typeface="Century Gothic"/>
                <a:cs typeface="Century Gothic"/>
              </a:rPr>
              <a:t>• Continuously improve security practices</a:t>
            </a:r>
            <a:endParaRPr dirty="0">
              <a:solidFill>
                <a:schemeClr val="bg1"/>
              </a:solidFill>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19425">
              <a:lnSpc>
                <a:spcPct val="100000"/>
              </a:lnSpc>
              <a:spcBef>
                <a:spcPts val="95"/>
              </a:spcBef>
            </a:pPr>
            <a:r>
              <a:rPr spc="-10" dirty="0"/>
              <a:t>REFERENCES</a:t>
            </a:r>
          </a:p>
        </p:txBody>
      </p:sp>
      <p:sp>
        <p:nvSpPr>
          <p:cNvPr id="3" name="object 3"/>
          <p:cNvSpPr txBox="1"/>
          <p:nvPr/>
        </p:nvSpPr>
        <p:spPr>
          <a:xfrm>
            <a:off x="764524" y="2187935"/>
            <a:ext cx="10567035" cy="3179075"/>
          </a:xfrm>
          <a:prstGeom prst="rect">
            <a:avLst/>
          </a:prstGeom>
        </p:spPr>
        <p:txBody>
          <a:bodyPr vert="horz" wrap="square" lIns="0" tIns="49530" rIns="0" bIns="0" rtlCol="0">
            <a:spAutoFit/>
          </a:bodyPr>
          <a:lstStyle/>
          <a:p>
            <a:pPr marL="12700" marR="5080" indent="-457200">
              <a:lnSpc>
                <a:spcPts val="2380"/>
              </a:lnSpc>
              <a:spcBef>
                <a:spcPts val="390"/>
              </a:spcBef>
              <a:tabLst>
                <a:tab pos="241300" algn="l"/>
              </a:tabLst>
            </a:pPr>
            <a:r>
              <a:rPr lang="en-US" sz="1400" dirty="0">
                <a:solidFill>
                  <a:schemeClr val="bg1"/>
                </a:solidFill>
                <a:latin typeface="Century Gothic"/>
                <a:cs typeface="Century Gothic"/>
              </a:rPr>
              <a:t>McAfee. (2021). 7 types of hacker motivations. https://web.archive.org/web/20210413134404/https://www.mcafee.com/blogs/consumer/family-safety/7-types-of-hacker-motivations/</a:t>
            </a:r>
          </a:p>
          <a:p>
            <a:pPr marL="12700" marR="5080" indent="-457200">
              <a:lnSpc>
                <a:spcPts val="2380"/>
              </a:lnSpc>
              <a:spcBef>
                <a:spcPts val="390"/>
              </a:spcBef>
              <a:tabLst>
                <a:tab pos="241300" algn="l"/>
              </a:tabLst>
            </a:pPr>
            <a:endParaRPr lang="en-US" sz="1400" dirty="0">
              <a:solidFill>
                <a:schemeClr val="bg1"/>
              </a:solidFill>
              <a:latin typeface="Century Gothic"/>
              <a:cs typeface="Century Gothic"/>
            </a:endParaRPr>
          </a:p>
          <a:p>
            <a:pPr marL="12700" marR="5080" indent="-457200">
              <a:lnSpc>
                <a:spcPts val="2380"/>
              </a:lnSpc>
              <a:spcBef>
                <a:spcPts val="390"/>
              </a:spcBef>
              <a:tabLst>
                <a:tab pos="241300" algn="l"/>
              </a:tabLst>
            </a:pPr>
            <a:r>
              <a:rPr lang="en-US" sz="1400" dirty="0">
                <a:solidFill>
                  <a:schemeClr val="bg1"/>
                </a:solidFill>
                <a:latin typeface="Century Gothic"/>
                <a:cs typeface="Century Gothic"/>
              </a:rPr>
              <a:t>OWASP Foundation. OWASP Top 10.</a:t>
            </a:r>
          </a:p>
          <a:p>
            <a:pPr marL="12700" marR="5080" indent="-457200">
              <a:lnSpc>
                <a:spcPts val="2380"/>
              </a:lnSpc>
              <a:spcBef>
                <a:spcPts val="390"/>
              </a:spcBef>
              <a:tabLst>
                <a:tab pos="241300" algn="l"/>
              </a:tabLst>
            </a:pPr>
            <a:r>
              <a:rPr lang="en-US" sz="1400" dirty="0">
                <a:solidFill>
                  <a:schemeClr val="bg1"/>
                </a:solidFill>
                <a:latin typeface="Century Gothic"/>
                <a:cs typeface="Century Gothic"/>
              </a:rPr>
              <a:t>https://owasp.org/www-project-top-ten/</a:t>
            </a:r>
          </a:p>
          <a:p>
            <a:pPr marL="12700" marR="5080" indent="-457200">
              <a:lnSpc>
                <a:spcPts val="2380"/>
              </a:lnSpc>
              <a:spcBef>
                <a:spcPts val="390"/>
              </a:spcBef>
              <a:tabLst>
                <a:tab pos="241300" algn="l"/>
              </a:tabLst>
            </a:pPr>
            <a:endParaRPr lang="en-US" sz="1400" dirty="0">
              <a:solidFill>
                <a:schemeClr val="bg1"/>
              </a:solidFill>
              <a:latin typeface="Century Gothic"/>
              <a:cs typeface="Century Gothic"/>
            </a:endParaRPr>
          </a:p>
          <a:p>
            <a:pPr marL="12700" marR="5080" indent="-457200">
              <a:lnSpc>
                <a:spcPts val="2380"/>
              </a:lnSpc>
              <a:spcBef>
                <a:spcPts val="390"/>
              </a:spcBef>
              <a:tabLst>
                <a:tab pos="241300" algn="l"/>
              </a:tabLst>
            </a:pPr>
            <a:r>
              <a:rPr lang="en-US" sz="1400" dirty="0">
                <a:solidFill>
                  <a:schemeClr val="bg1"/>
                </a:solidFill>
                <a:latin typeface="Century Gothic"/>
                <a:cs typeface="Century Gothic"/>
              </a:rPr>
              <a:t>NIST. Security and Privacy Controls.</a:t>
            </a:r>
          </a:p>
          <a:p>
            <a:pPr marL="12700" marR="5080" indent="-457200">
              <a:lnSpc>
                <a:spcPts val="2380"/>
              </a:lnSpc>
              <a:spcBef>
                <a:spcPts val="390"/>
              </a:spcBef>
              <a:tabLst>
                <a:tab pos="241300" algn="l"/>
              </a:tabLst>
            </a:pPr>
            <a:r>
              <a:rPr lang="en-US" sz="1400" dirty="0">
                <a:solidFill>
                  <a:schemeClr val="bg1"/>
                </a:solidFill>
                <a:latin typeface="Century Gothic"/>
                <a:cs typeface="Century Gothic"/>
              </a:rPr>
              <a:t>https://csrc.nist.gov/publications/detail/sp/800-53/rev-5/final</a:t>
            </a:r>
            <a:endParaRPr sz="1400" dirty="0">
              <a:solidFill>
                <a:schemeClr val="bg1"/>
              </a:solidFill>
              <a:latin typeface="Century Gothic"/>
              <a:cs typeface="Century Gothic"/>
            </a:endParaRPr>
          </a:p>
        </p:txBody>
      </p:sp>
      <p:pic>
        <p:nvPicPr>
          <p:cNvPr id="4" name="object 4" descr="Green Pace logo"/>
          <p:cNvPicPr/>
          <p:nvPr/>
        </p:nvPicPr>
        <p:blipFill>
          <a:blip r:embed="rId2" cstate="print"/>
          <a:stretch>
            <a:fillRect/>
          </a:stretch>
        </p:blipFill>
        <p:spPr>
          <a:xfrm>
            <a:off x="11084073" y="5440527"/>
            <a:ext cx="886591" cy="114909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TotalTime>
  <Words>784</Words>
  <Application>Microsoft Office PowerPoint</Application>
  <PresentationFormat>Widescreen</PresentationFormat>
  <Paragraphs>147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Century Gothic</vt:lpstr>
      <vt:lpstr>Office Theme</vt:lpstr>
      <vt:lpstr>Green Pace Security Policy Presentation Developer: Samuel Alex Black  Link to video: https://youtu.be/UXaDqqc0UnM </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Black, Samuel</cp:lastModifiedBy>
  <cp:revision>5</cp:revision>
  <dcterms:created xsi:type="dcterms:W3CDTF">2026-04-19T21:09:03Z</dcterms:created>
  <dcterms:modified xsi:type="dcterms:W3CDTF">2026-04-19T22:05:58Z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y fmtid="{D5CDD505-2E9C-101B-9397-08002B2CF9AE}" pid="5" name="Created">
    <vt:filetime>2026-04-19T00:00:00Z</vt:filetime>
  </property>
  <property fmtid="{D5CDD505-2E9C-101B-9397-08002B2CF9AE}" pid="6" name="Creator">
    <vt:lpwstr>Acrobat PDFMaker 26 for PowerPoint</vt:lpwstr>
  </property>
  <property fmtid="{D5CDD505-2E9C-101B-9397-08002B2CF9AE}" pid="7" name="LastSaved">
    <vt:filetime>2026-04-19T00:00:00Z</vt:filetime>
  </property>
  <property fmtid="{D5CDD505-2E9C-101B-9397-08002B2CF9AE}" pid="8" name="Producer">
    <vt:lpwstr>Adobe PDF Library 26.1.183</vt:lpwstr>
  </property>
</Properties>
</file>